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sldIdLst>
    <p:sldId id="256" r:id="rId2"/>
    <p:sldId id="264" r:id="rId3"/>
    <p:sldId id="281" r:id="rId4"/>
    <p:sldId id="258" r:id="rId5"/>
    <p:sldId id="263" r:id="rId6"/>
    <p:sldId id="279" r:id="rId7"/>
    <p:sldId id="278" r:id="rId8"/>
    <p:sldId id="265" r:id="rId9"/>
    <p:sldId id="270" r:id="rId10"/>
    <p:sldId id="280" r:id="rId11"/>
    <p:sldId id="266" r:id="rId12"/>
    <p:sldId id="267" r:id="rId13"/>
    <p:sldId id="274" r:id="rId14"/>
    <p:sldId id="275" r:id="rId15"/>
    <p:sldId id="276" r:id="rId16"/>
    <p:sldId id="277" r:id="rId17"/>
    <p:sldId id="268" r:id="rId18"/>
    <p:sldId id="269" r:id="rId19"/>
    <p:sldId id="272" r:id="rId20"/>
    <p:sldId id="262"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6327"/>
  </p:normalViewPr>
  <p:slideViewPr>
    <p:cSldViewPr snapToGrid="0">
      <p:cViewPr>
        <p:scale>
          <a:sx n="83" d="100"/>
          <a:sy n="83" d="100"/>
        </p:scale>
        <p:origin x="706" y="7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şlık Slaydı">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C966D0-AAEA-19BC-74FC-C5E000815994}"/>
              </a:ext>
            </a:extLst>
          </p:cNvPr>
          <p:cNvPicPr>
            <a:picLocks noChangeAspect="1"/>
          </p:cNvPicPr>
          <p:nvPr userDrawn="1"/>
        </p:nvPicPr>
        <p:blipFill>
          <a:blip r:embed="rId2"/>
          <a:stretch>
            <a:fillRect/>
          </a:stretch>
        </p:blipFill>
        <p:spPr>
          <a:xfrm>
            <a:off x="3553238" y="781312"/>
            <a:ext cx="2037523" cy="1145473"/>
          </a:xfrm>
          <a:prstGeom prst="rect">
            <a:avLst/>
          </a:prstGeom>
        </p:spPr>
      </p:pic>
    </p:spTree>
    <p:extLst>
      <p:ext uri="{BB962C8B-B14F-4D97-AF65-F5344CB8AC3E}">
        <p14:creationId xmlns:p14="http://schemas.microsoft.com/office/powerpoint/2010/main" val="1985683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şlık ve İçerik">
    <p:spTree>
      <p:nvGrpSpPr>
        <p:cNvPr id="1" name=""/>
        <p:cNvGrpSpPr/>
        <p:nvPr/>
      </p:nvGrpSpPr>
      <p:grpSpPr>
        <a:xfrm>
          <a:off x="0" y="0"/>
          <a:ext cx="0" cy="0"/>
          <a:chOff x="0" y="0"/>
          <a:chExt cx="0" cy="0"/>
        </a:xfrm>
      </p:grpSpPr>
      <p:sp>
        <p:nvSpPr>
          <p:cNvPr id="8" name="Serbest Form: Şekil 12">
            <a:extLst>
              <a:ext uri="{FF2B5EF4-FFF2-40B4-BE49-F238E27FC236}">
                <a16:creationId xmlns:a16="http://schemas.microsoft.com/office/drawing/2014/main" id="{1AFAB418-7D46-5734-7185-910B02DF5476}"/>
              </a:ext>
            </a:extLst>
          </p:cNvPr>
          <p:cNvSpPr/>
          <p:nvPr userDrawn="1"/>
        </p:nvSpPr>
        <p:spPr>
          <a:xfrm>
            <a:off x="5015753" y="474917"/>
            <a:ext cx="5811789"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2" name="Picture 1">
            <a:extLst>
              <a:ext uri="{FF2B5EF4-FFF2-40B4-BE49-F238E27FC236}">
                <a16:creationId xmlns:a16="http://schemas.microsoft.com/office/drawing/2014/main" id="{15751EE6-F9F6-C527-41CE-0D7CFF91DB04}"/>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3071833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Başlık ve İçerik">
    <p:spTree>
      <p:nvGrpSpPr>
        <p:cNvPr id="1" name=""/>
        <p:cNvGrpSpPr/>
        <p:nvPr/>
      </p:nvGrpSpPr>
      <p:grpSpPr>
        <a:xfrm>
          <a:off x="0" y="0"/>
          <a:ext cx="0" cy="0"/>
          <a:chOff x="0" y="0"/>
          <a:chExt cx="0" cy="0"/>
        </a:xfrm>
      </p:grpSpPr>
      <p:sp>
        <p:nvSpPr>
          <p:cNvPr id="8" name="Serbest Form: Şekil 12">
            <a:extLst>
              <a:ext uri="{FF2B5EF4-FFF2-40B4-BE49-F238E27FC236}">
                <a16:creationId xmlns:a16="http://schemas.microsoft.com/office/drawing/2014/main" id="{1AFAB418-7D46-5734-7185-910B02DF5476}"/>
              </a:ext>
            </a:extLst>
          </p:cNvPr>
          <p:cNvSpPr/>
          <p:nvPr userDrawn="1"/>
        </p:nvSpPr>
        <p:spPr>
          <a:xfrm>
            <a:off x="5015753" y="474917"/>
            <a:ext cx="5811789"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F7766D11-EEDA-37BE-97B7-4D7AA835B3D2}"/>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1800420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Başlık ve İçerik">
    <p:spTree>
      <p:nvGrpSpPr>
        <p:cNvPr id="1" name=""/>
        <p:cNvGrpSpPr/>
        <p:nvPr/>
      </p:nvGrpSpPr>
      <p:grpSpPr>
        <a:xfrm>
          <a:off x="0" y="0"/>
          <a:ext cx="0" cy="0"/>
          <a:chOff x="0" y="0"/>
          <a:chExt cx="0" cy="0"/>
        </a:xfrm>
      </p:grpSpPr>
      <p:sp>
        <p:nvSpPr>
          <p:cNvPr id="8" name="Serbest Form: Şekil 12">
            <a:extLst>
              <a:ext uri="{FF2B5EF4-FFF2-40B4-BE49-F238E27FC236}">
                <a16:creationId xmlns:a16="http://schemas.microsoft.com/office/drawing/2014/main" id="{1AFAB418-7D46-5734-7185-910B02DF5476}"/>
              </a:ext>
            </a:extLst>
          </p:cNvPr>
          <p:cNvSpPr/>
          <p:nvPr userDrawn="1"/>
        </p:nvSpPr>
        <p:spPr>
          <a:xfrm>
            <a:off x="5015753" y="474917"/>
            <a:ext cx="5811789"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98A85A5C-B625-682B-BF61-7BB2C11E84B7}"/>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1061612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Başlık ve İçerik">
    <p:spTree>
      <p:nvGrpSpPr>
        <p:cNvPr id="1" name=""/>
        <p:cNvGrpSpPr/>
        <p:nvPr/>
      </p:nvGrpSpPr>
      <p:grpSpPr>
        <a:xfrm>
          <a:off x="0" y="0"/>
          <a:ext cx="0" cy="0"/>
          <a:chOff x="0" y="0"/>
          <a:chExt cx="0" cy="0"/>
        </a:xfrm>
      </p:grpSpPr>
      <p:sp>
        <p:nvSpPr>
          <p:cNvPr id="8" name="Serbest Form: Şekil 12">
            <a:extLst>
              <a:ext uri="{FF2B5EF4-FFF2-40B4-BE49-F238E27FC236}">
                <a16:creationId xmlns:a16="http://schemas.microsoft.com/office/drawing/2014/main" id="{1AFAB418-7D46-5734-7185-910B02DF5476}"/>
              </a:ext>
            </a:extLst>
          </p:cNvPr>
          <p:cNvSpPr/>
          <p:nvPr userDrawn="1"/>
        </p:nvSpPr>
        <p:spPr>
          <a:xfrm>
            <a:off x="5015753" y="474917"/>
            <a:ext cx="5811789"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067CD9E3-F2E1-2635-FCCA-32254ED14319}"/>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2925676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Başlık ve İçerik">
    <p:spTree>
      <p:nvGrpSpPr>
        <p:cNvPr id="1" name=""/>
        <p:cNvGrpSpPr/>
        <p:nvPr/>
      </p:nvGrpSpPr>
      <p:grpSpPr>
        <a:xfrm>
          <a:off x="0" y="0"/>
          <a:ext cx="0" cy="0"/>
          <a:chOff x="0" y="0"/>
          <a:chExt cx="0" cy="0"/>
        </a:xfrm>
      </p:grpSpPr>
      <p:sp>
        <p:nvSpPr>
          <p:cNvPr id="8" name="Serbest Form: Şekil 12">
            <a:extLst>
              <a:ext uri="{FF2B5EF4-FFF2-40B4-BE49-F238E27FC236}">
                <a16:creationId xmlns:a16="http://schemas.microsoft.com/office/drawing/2014/main" id="{1AFAB418-7D46-5734-7185-910B02DF5476}"/>
              </a:ext>
            </a:extLst>
          </p:cNvPr>
          <p:cNvSpPr/>
          <p:nvPr userDrawn="1"/>
        </p:nvSpPr>
        <p:spPr>
          <a:xfrm>
            <a:off x="5015753" y="474917"/>
            <a:ext cx="5811789"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2BDD9FA7-7A3B-97C6-7455-63B534FAE91A}"/>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235584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Özel Düzen">
    <p:spTree>
      <p:nvGrpSpPr>
        <p:cNvPr id="1" name=""/>
        <p:cNvGrpSpPr/>
        <p:nvPr/>
      </p:nvGrpSpPr>
      <p:grpSpPr>
        <a:xfrm>
          <a:off x="0" y="0"/>
          <a:ext cx="0" cy="0"/>
          <a:chOff x="0" y="0"/>
          <a:chExt cx="0" cy="0"/>
        </a:xfrm>
      </p:grpSpPr>
      <p:sp>
        <p:nvSpPr>
          <p:cNvPr id="7" name="Metin kutusu 6">
            <a:extLst>
              <a:ext uri="{FF2B5EF4-FFF2-40B4-BE49-F238E27FC236}">
                <a16:creationId xmlns:a16="http://schemas.microsoft.com/office/drawing/2014/main" id="{60B86263-3A3C-4070-BD77-2D3CB5C80D8A}"/>
              </a:ext>
            </a:extLst>
          </p:cNvPr>
          <p:cNvSpPr txBox="1"/>
          <p:nvPr userDrawn="1"/>
        </p:nvSpPr>
        <p:spPr>
          <a:xfrm>
            <a:off x="3633441" y="4754859"/>
            <a:ext cx="1877115" cy="461665"/>
          </a:xfrm>
          <a:prstGeom prst="rect">
            <a:avLst/>
          </a:prstGeom>
          <a:noFill/>
        </p:spPr>
        <p:txBody>
          <a:bodyPr wrap="square" rtlCol="0" anchor="ctr">
            <a:spAutoFit/>
          </a:bodyPr>
          <a:lstStyle/>
          <a:p>
            <a:pPr algn="ctr"/>
            <a:r>
              <a:rPr lang="tr-TR" sz="2400" b="1" dirty="0">
                <a:solidFill>
                  <a:srgbClr val="012855"/>
                </a:solidFill>
                <a:latin typeface="Helvetica" pitchFamily="2" charset="0"/>
              </a:rPr>
              <a:t>Teşekkürler</a:t>
            </a:r>
          </a:p>
        </p:txBody>
      </p:sp>
      <p:pic>
        <p:nvPicPr>
          <p:cNvPr id="2" name="Picture 1">
            <a:extLst>
              <a:ext uri="{FF2B5EF4-FFF2-40B4-BE49-F238E27FC236}">
                <a16:creationId xmlns:a16="http://schemas.microsoft.com/office/drawing/2014/main" id="{D4EE4D55-7869-7693-C082-EC322D56C3DC}"/>
              </a:ext>
            </a:extLst>
          </p:cNvPr>
          <p:cNvPicPr>
            <a:picLocks noChangeAspect="1"/>
          </p:cNvPicPr>
          <p:nvPr userDrawn="1"/>
        </p:nvPicPr>
        <p:blipFill>
          <a:blip r:embed="rId2"/>
          <a:stretch>
            <a:fillRect/>
          </a:stretch>
        </p:blipFill>
        <p:spPr>
          <a:xfrm>
            <a:off x="3553238" y="781312"/>
            <a:ext cx="2037523" cy="1145473"/>
          </a:xfrm>
          <a:prstGeom prst="rect">
            <a:avLst/>
          </a:prstGeom>
        </p:spPr>
      </p:pic>
    </p:spTree>
    <p:extLst>
      <p:ext uri="{BB962C8B-B14F-4D97-AF65-F5344CB8AC3E}">
        <p14:creationId xmlns:p14="http://schemas.microsoft.com/office/powerpoint/2010/main" val="2040452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Resim 6">
            <a:extLst>
              <a:ext uri="{FF2B5EF4-FFF2-40B4-BE49-F238E27FC236}">
                <a16:creationId xmlns:a16="http://schemas.microsoft.com/office/drawing/2014/main" id="{B2A1AC70-ABA3-B6CA-3DE3-CE8A2ED4AA59}"/>
              </a:ext>
            </a:extLst>
          </p:cNvPr>
          <p:cNvPicPr>
            <a:picLocks noChangeAspect="1"/>
          </p:cNvPicPr>
          <p:nvPr userDrawn="1"/>
        </p:nvPicPr>
        <p:blipFill>
          <a:blip r:embed="rId9"/>
          <a:stretch>
            <a:fillRect/>
          </a:stretch>
        </p:blipFill>
        <p:spPr>
          <a:xfrm>
            <a:off x="-1263229" y="0"/>
            <a:ext cx="12191206" cy="6858447"/>
          </a:xfrm>
          <a:prstGeom prst="rect">
            <a:avLst/>
          </a:prstGeom>
        </p:spPr>
      </p:pic>
    </p:spTree>
    <p:extLst>
      <p:ext uri="{BB962C8B-B14F-4D97-AF65-F5344CB8AC3E}">
        <p14:creationId xmlns:p14="http://schemas.microsoft.com/office/powerpoint/2010/main" val="52143928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97" r:id="rId3"/>
    <p:sldLayoutId id="2147483698" r:id="rId4"/>
    <p:sldLayoutId id="2147483699" r:id="rId5"/>
    <p:sldLayoutId id="2147483700" r:id="rId6"/>
    <p:sldLayoutId id="2147483696"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3C8CBA57-1943-499A-2737-D13E80AB8AA7}"/>
              </a:ext>
            </a:extLst>
          </p:cNvPr>
          <p:cNvSpPr txBox="1"/>
          <p:nvPr/>
        </p:nvSpPr>
        <p:spPr>
          <a:xfrm>
            <a:off x="2887728" y="6291312"/>
            <a:ext cx="3368544" cy="461665"/>
          </a:xfrm>
          <a:prstGeom prst="rect">
            <a:avLst/>
          </a:prstGeom>
          <a:noFill/>
        </p:spPr>
        <p:txBody>
          <a:bodyPr wrap="square">
            <a:spAutoFit/>
          </a:bodyPr>
          <a:lstStyle/>
          <a:p>
            <a:pPr algn="ctr"/>
            <a:r>
              <a:rPr lang="tr-TR" sz="1200" b="1" i="0" dirty="0">
                <a:solidFill>
                  <a:srgbClr val="002755"/>
                </a:solidFill>
                <a:latin typeface="Helvetica" pitchFamily="2" charset="0"/>
              </a:rPr>
              <a:t>Ahmet Fevzi Akargöl</a:t>
            </a:r>
          </a:p>
          <a:p>
            <a:pPr algn="ctr"/>
            <a:r>
              <a:rPr lang="tr-TR" sz="1200" b="1" i="0" dirty="0">
                <a:solidFill>
                  <a:srgbClr val="002755"/>
                </a:solidFill>
                <a:latin typeface="Helvetica" pitchFamily="2" charset="0"/>
              </a:rPr>
              <a:t>Advisor: Prof. Dr. Alim Rüstem Aslan</a:t>
            </a:r>
          </a:p>
        </p:txBody>
      </p:sp>
      <p:sp>
        <p:nvSpPr>
          <p:cNvPr id="5" name="Metin kutusu 4">
            <a:extLst>
              <a:ext uri="{FF2B5EF4-FFF2-40B4-BE49-F238E27FC236}">
                <a16:creationId xmlns:a16="http://schemas.microsoft.com/office/drawing/2014/main" id="{1F0FA634-F03E-B6EE-EA4B-9D5FFA05FE58}"/>
              </a:ext>
            </a:extLst>
          </p:cNvPr>
          <p:cNvSpPr txBox="1"/>
          <p:nvPr/>
        </p:nvSpPr>
        <p:spPr>
          <a:xfrm>
            <a:off x="2493018" y="5380156"/>
            <a:ext cx="4157965" cy="400110"/>
          </a:xfrm>
          <a:prstGeom prst="rect">
            <a:avLst/>
          </a:prstGeom>
          <a:noFill/>
        </p:spPr>
        <p:txBody>
          <a:bodyPr wrap="square" rtlCol="0" anchor="ctr">
            <a:spAutoFit/>
          </a:bodyPr>
          <a:lstStyle/>
          <a:p>
            <a:pPr algn="ctr"/>
            <a:r>
              <a:rPr lang="tr-TR" sz="2000" dirty="0">
                <a:solidFill>
                  <a:srgbClr val="012855"/>
                </a:solidFill>
                <a:latin typeface="Helvetica Light" panose="020B0403020202020204" pitchFamily="34" charset="0"/>
              </a:rPr>
              <a:t>26.06.2024</a:t>
            </a:r>
          </a:p>
        </p:txBody>
      </p:sp>
      <p:sp>
        <p:nvSpPr>
          <p:cNvPr id="7" name="Metin kutusu 6">
            <a:extLst>
              <a:ext uri="{FF2B5EF4-FFF2-40B4-BE49-F238E27FC236}">
                <a16:creationId xmlns:a16="http://schemas.microsoft.com/office/drawing/2014/main" id="{B02B77C0-DC57-4388-B5F0-E9C87618F12F}"/>
              </a:ext>
            </a:extLst>
          </p:cNvPr>
          <p:cNvSpPr txBox="1"/>
          <p:nvPr/>
        </p:nvSpPr>
        <p:spPr>
          <a:xfrm>
            <a:off x="661326" y="2653119"/>
            <a:ext cx="9149647" cy="1754326"/>
          </a:xfrm>
          <a:prstGeom prst="rect">
            <a:avLst/>
          </a:prstGeom>
          <a:noFill/>
        </p:spPr>
        <p:txBody>
          <a:bodyPr wrap="square" rtlCol="0" anchor="ctr">
            <a:spAutoFit/>
          </a:bodyPr>
          <a:lstStyle/>
          <a:p>
            <a:pPr algn="l"/>
            <a:r>
              <a:rPr lang="en-US" sz="5400" b="0" i="0" dirty="0">
                <a:solidFill>
                  <a:srgbClr val="212529"/>
                </a:solidFill>
                <a:effectLst/>
                <a:latin typeface="Helvetica" panose="020B0604020202020204" pitchFamily="34" charset="0"/>
                <a:cs typeface="Helvetica" panose="020B0604020202020204" pitchFamily="34" charset="0"/>
              </a:rPr>
              <a:t>Trajectory Design for Lunar </a:t>
            </a:r>
            <a:r>
              <a:rPr lang="tr-TR" sz="5400" b="0" i="0" dirty="0">
                <a:solidFill>
                  <a:srgbClr val="212529"/>
                </a:solidFill>
                <a:effectLst/>
                <a:latin typeface="Helvetica" panose="020B0604020202020204" pitchFamily="34" charset="0"/>
                <a:cs typeface="Helvetica" panose="020B0604020202020204" pitchFamily="34" charset="0"/>
              </a:rPr>
              <a:t>				</a:t>
            </a:r>
            <a:r>
              <a:rPr lang="en-US" sz="5400" b="0" i="0" dirty="0">
                <a:solidFill>
                  <a:srgbClr val="212529"/>
                </a:solidFill>
                <a:effectLst/>
                <a:latin typeface="Helvetica" panose="020B0604020202020204" pitchFamily="34" charset="0"/>
                <a:cs typeface="Helvetica" panose="020B0604020202020204" pitchFamily="34" charset="0"/>
              </a:rPr>
              <a:t>Cube</a:t>
            </a:r>
            <a:r>
              <a:rPr lang="tr-TR" sz="5400" b="0" i="0" dirty="0">
                <a:solidFill>
                  <a:srgbClr val="212529"/>
                </a:solidFill>
                <a:effectLst/>
                <a:latin typeface="Helvetica" panose="020B0604020202020204" pitchFamily="34" charset="0"/>
                <a:cs typeface="Helvetica" panose="020B0604020202020204" pitchFamily="34" charset="0"/>
              </a:rPr>
              <a:t>S</a:t>
            </a:r>
            <a:r>
              <a:rPr lang="en-US" sz="5400" b="0" i="0" dirty="0">
                <a:solidFill>
                  <a:srgbClr val="212529"/>
                </a:solidFill>
                <a:effectLst/>
                <a:latin typeface="Helvetica" panose="020B0604020202020204" pitchFamily="34" charset="0"/>
                <a:cs typeface="Helvetica" panose="020B0604020202020204" pitchFamily="34" charset="0"/>
              </a:rPr>
              <a:t>at Missions</a:t>
            </a:r>
            <a:endParaRPr lang="tr-TR" sz="5000" b="1" dirty="0">
              <a:solidFill>
                <a:srgbClr val="012855"/>
              </a:solidFill>
              <a:latin typeface="Helvetica" panose="020B0604020202020204" pitchFamily="34" charset="0"/>
              <a:cs typeface="Helvetica" panose="020B0604020202020204" pitchFamily="34" charset="0"/>
            </a:endParaRPr>
          </a:p>
        </p:txBody>
      </p:sp>
      <p:sp>
        <p:nvSpPr>
          <p:cNvPr id="8" name="Metin kutusu 7">
            <a:extLst>
              <a:ext uri="{FF2B5EF4-FFF2-40B4-BE49-F238E27FC236}">
                <a16:creationId xmlns:a16="http://schemas.microsoft.com/office/drawing/2014/main" id="{B6D9F9AE-22B4-4FA9-AC0A-13BD16D766B3}"/>
              </a:ext>
            </a:extLst>
          </p:cNvPr>
          <p:cNvSpPr txBox="1"/>
          <p:nvPr/>
        </p:nvSpPr>
        <p:spPr>
          <a:xfrm>
            <a:off x="11102547" y="1997839"/>
            <a:ext cx="2292178" cy="2862322"/>
          </a:xfrm>
          <a:prstGeom prst="rect">
            <a:avLst/>
          </a:prstGeom>
          <a:noFill/>
        </p:spPr>
        <p:txBody>
          <a:bodyPr wrap="square">
            <a:spAutoFit/>
          </a:bodyPr>
          <a:lstStyle/>
          <a:p>
            <a:r>
              <a:rPr lang="en-US" dirty="0"/>
              <a:t>My name is Ahmet Fevzi Akargöl, and today I will be presenting my final year project on 'Trajectory Design for Lunar CubeSat Missions,' supervised by Professor Dr. Alim </a:t>
            </a:r>
            <a:r>
              <a:rPr lang="en-US" dirty="0" err="1"/>
              <a:t>Rüstem</a:t>
            </a:r>
            <a:r>
              <a:rPr lang="en-US" dirty="0"/>
              <a:t> Aslan.</a:t>
            </a:r>
            <a:endParaRPr lang="tr-TR" dirty="0"/>
          </a:p>
        </p:txBody>
      </p:sp>
    </p:spTree>
    <p:extLst>
      <p:ext uri="{BB962C8B-B14F-4D97-AF65-F5344CB8AC3E}">
        <p14:creationId xmlns:p14="http://schemas.microsoft.com/office/powerpoint/2010/main" val="2293274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0FA1FC64-3985-B76D-92BE-CE787F775F82}"/>
              </a:ext>
            </a:extLst>
          </p:cNvPr>
          <p:cNvSpPr txBox="1"/>
          <p:nvPr/>
        </p:nvSpPr>
        <p:spPr>
          <a:xfrm>
            <a:off x="5491269" y="462744"/>
            <a:ext cx="1324402" cy="523220"/>
          </a:xfrm>
          <a:prstGeom prst="rect">
            <a:avLst/>
          </a:prstGeom>
          <a:noFill/>
        </p:spPr>
        <p:txBody>
          <a:bodyPr wrap="none" rtlCol="0">
            <a:spAutoFit/>
          </a:bodyPr>
          <a:lstStyle/>
          <a:p>
            <a:r>
              <a:rPr lang="tr-TR" sz="2800" dirty="0" err="1">
                <a:solidFill>
                  <a:schemeClr val="bg1"/>
                </a:solidFill>
                <a:latin typeface="Helvetica" pitchFamily="2" charset="0"/>
              </a:rPr>
              <a:t>Outline</a:t>
            </a:r>
            <a:endParaRPr lang="tr-TR" sz="2800" dirty="0">
              <a:solidFill>
                <a:schemeClr val="bg1"/>
              </a:solidFill>
              <a:latin typeface="Helvetica" pitchFamily="2" charset="0"/>
            </a:endParaRPr>
          </a:p>
        </p:txBody>
      </p:sp>
      <p:sp>
        <p:nvSpPr>
          <p:cNvPr id="5" name="AutoShape 2">
            <a:extLst>
              <a:ext uri="{FF2B5EF4-FFF2-40B4-BE49-F238E27FC236}">
                <a16:creationId xmlns:a16="http://schemas.microsoft.com/office/drawing/2014/main" id="{2C462BDB-44CF-4E8C-BEEA-17DC3AEB86FB}"/>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8" name="Metin kutusu 7">
            <a:extLst>
              <a:ext uri="{FF2B5EF4-FFF2-40B4-BE49-F238E27FC236}">
                <a16:creationId xmlns:a16="http://schemas.microsoft.com/office/drawing/2014/main" id="{236EB2D4-4DB9-4CBE-94F6-6F6BC539AE74}"/>
              </a:ext>
            </a:extLst>
          </p:cNvPr>
          <p:cNvSpPr txBox="1"/>
          <p:nvPr/>
        </p:nvSpPr>
        <p:spPr>
          <a:xfrm>
            <a:off x="11229652" y="1734740"/>
            <a:ext cx="3686837" cy="3693319"/>
          </a:xfrm>
          <a:prstGeom prst="rect">
            <a:avLst/>
          </a:prstGeom>
          <a:noFill/>
        </p:spPr>
        <p:txBody>
          <a:bodyPr wrap="square">
            <a:spAutoFit/>
          </a:bodyPr>
          <a:lstStyle/>
          <a:p>
            <a:r>
              <a:rPr lang="tr-TR" dirty="0"/>
              <a:t>I</a:t>
            </a:r>
            <a:r>
              <a:rPr lang="en-US" dirty="0"/>
              <a:t>n today's presentation, we'll begin with the motivation and aims of the project. Then, I will cover the background of the mission challenge and our methodological approach. The core of the presentation will be the simulation section, where I will walk you through the entire process, from overcoming theoretical challenges to the final trajectory design. We will conclude with the results, my final evaluation, and a Q&amp;A session.</a:t>
            </a:r>
            <a:endParaRPr lang="tr-TR" dirty="0"/>
          </a:p>
        </p:txBody>
      </p:sp>
      <p:sp>
        <p:nvSpPr>
          <p:cNvPr id="4" name="Rectangle 1">
            <a:extLst>
              <a:ext uri="{FF2B5EF4-FFF2-40B4-BE49-F238E27FC236}">
                <a16:creationId xmlns:a16="http://schemas.microsoft.com/office/drawing/2014/main" id="{7962AD42-11EF-4A0C-947C-7EE325CACA22}"/>
              </a:ext>
            </a:extLst>
          </p:cNvPr>
          <p:cNvSpPr>
            <a:spLocks noChangeArrowheads="1"/>
          </p:cNvSpPr>
          <p:nvPr/>
        </p:nvSpPr>
        <p:spPr bwMode="auto">
          <a:xfrm>
            <a:off x="1780032" y="2026011"/>
            <a:ext cx="679769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tr-TR" altLang="tr-TR" b="1" dirty="0">
                <a:latin typeface="Arial" panose="020B0604020202020204" pitchFamily="34" charset="0"/>
              </a:rPr>
              <a:t>1. </a:t>
            </a:r>
            <a:r>
              <a:rPr kumimoji="0" lang="tr-TR" altLang="tr-TR" sz="1800" b="1" i="0" u="none" strike="noStrike" cap="none" normalizeH="0" baseline="0" dirty="0" err="1">
                <a:ln>
                  <a:noFill/>
                </a:ln>
                <a:solidFill>
                  <a:schemeClr val="tx1"/>
                </a:solidFill>
                <a:effectLst/>
                <a:latin typeface="Arial" panose="020B0604020202020204" pitchFamily="34" charset="0"/>
              </a:rPr>
              <a:t>Motivation</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Why</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this</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topic</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tr-TR" altLang="tr-TR" sz="1800" b="1" i="0" u="none" strike="noStrike" cap="none" normalizeH="0" baseline="0" dirty="0">
                <a:ln>
                  <a:noFill/>
                </a:ln>
                <a:solidFill>
                  <a:schemeClr val="tx1"/>
                </a:solidFill>
                <a:effectLst/>
                <a:latin typeface="Arial" panose="020B0604020202020204" pitchFamily="34" charset="0"/>
              </a:rPr>
              <a:t>2.Aims &amp; </a:t>
            </a:r>
            <a:r>
              <a:rPr kumimoji="0" lang="tr-TR" altLang="tr-TR" sz="1800" b="1" i="0" u="none" strike="noStrike" cap="none" normalizeH="0" baseline="0" dirty="0" err="1">
                <a:ln>
                  <a:noFill/>
                </a:ln>
                <a:solidFill>
                  <a:schemeClr val="tx1"/>
                </a:solidFill>
                <a:effectLst/>
                <a:latin typeface="Arial" panose="020B0604020202020204" pitchFamily="34" charset="0"/>
              </a:rPr>
              <a:t>Scope</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What</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did</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we</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aim</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to</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achieve</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tr-TR" altLang="tr-TR" sz="1800" b="1" i="0" u="none" strike="noStrike" cap="none" normalizeH="0" baseline="0" dirty="0">
                <a:ln>
                  <a:noFill/>
                </a:ln>
                <a:solidFill>
                  <a:schemeClr val="tx1"/>
                </a:solidFill>
                <a:effectLst/>
                <a:latin typeface="Arial" panose="020B0604020202020204" pitchFamily="34" charset="0"/>
              </a:rPr>
              <a:t>3. Background &amp; </a:t>
            </a:r>
            <a:r>
              <a:rPr kumimoji="0" lang="tr-TR" altLang="tr-TR" sz="1800" b="1" i="0" u="none" strike="noStrike" cap="none" normalizeH="0" baseline="0" dirty="0" err="1">
                <a:ln>
                  <a:noFill/>
                </a:ln>
                <a:solidFill>
                  <a:schemeClr val="tx1"/>
                </a:solidFill>
                <a:effectLst/>
                <a:latin typeface="Arial" panose="020B0604020202020204" pitchFamily="34" charset="0"/>
              </a:rPr>
              <a:t>Methodology</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The</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context</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and</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our</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approach</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tr-TR" altLang="tr-TR" sz="1800" b="1" i="0" u="none" strike="noStrike" cap="none" normalizeH="0" baseline="0" dirty="0">
                <a:ln>
                  <a:noFill/>
                </a:ln>
                <a:solidFill>
                  <a:schemeClr val="tx1"/>
                </a:solidFill>
                <a:effectLst/>
                <a:latin typeface="Arial" panose="020B0604020202020204" pitchFamily="34" charset="0"/>
              </a:rPr>
              <a:t>4.Simulation:</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From</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Theory</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to</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Practice</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err="1">
                <a:ln>
                  <a:noFill/>
                </a:ln>
                <a:solidFill>
                  <a:schemeClr val="tx1"/>
                </a:solidFill>
                <a:effectLst/>
                <a:latin typeface="Arial" panose="020B0604020202020204" pitchFamily="34" charset="0"/>
              </a:rPr>
              <a:t>The</a:t>
            </a:r>
            <a:r>
              <a:rPr kumimoji="0" lang="tr-TR" altLang="tr-TR" sz="1800" b="0" i="0" u="none" strike="noStrike" cap="none" normalizeH="0" baseline="0" dirty="0">
                <a:ln>
                  <a:noFill/>
                </a:ln>
                <a:solidFill>
                  <a:schemeClr val="tx1"/>
                </a:solidFill>
                <a:effectLst/>
                <a:latin typeface="Arial" panose="020B0604020202020204" pitchFamily="34" charset="0"/>
              </a:rPr>
              <a:t> Challenge: </a:t>
            </a:r>
            <a:r>
              <a:rPr kumimoji="0" lang="tr-TR" altLang="tr-TR" sz="1800" b="0" i="0" u="none" strike="noStrike" cap="none" normalizeH="0" baseline="0" dirty="0" err="1">
                <a:ln>
                  <a:noFill/>
                </a:ln>
                <a:solidFill>
                  <a:schemeClr val="tx1"/>
                </a:solidFill>
                <a:effectLst/>
                <a:latin typeface="Arial" panose="020B0604020202020204" pitchFamily="34" charset="0"/>
              </a:rPr>
              <a:t>Theory</a:t>
            </a:r>
            <a:r>
              <a:rPr kumimoji="0" lang="tr-TR" altLang="tr-TR" sz="1800" b="0" i="0" u="none" strike="noStrike" cap="none" normalizeH="0" baseline="0" dirty="0">
                <a:ln>
                  <a:noFill/>
                </a:ln>
                <a:solidFill>
                  <a:schemeClr val="tx1"/>
                </a:solidFill>
                <a:effectLst/>
                <a:latin typeface="Arial" panose="020B0604020202020204" pitchFamily="34" charset="0"/>
              </a:rPr>
              <a:t> vs. </a:t>
            </a:r>
            <a:r>
              <a:rPr kumimoji="0" lang="tr-TR" altLang="tr-TR" sz="1800" b="0" i="0" u="none" strike="noStrike" cap="none" normalizeH="0" baseline="0" dirty="0" err="1">
                <a:ln>
                  <a:noFill/>
                </a:ln>
                <a:solidFill>
                  <a:schemeClr val="tx1"/>
                </a:solidFill>
                <a:effectLst/>
                <a:latin typeface="Arial" panose="020B0604020202020204" pitchFamily="34" charset="0"/>
              </a:rPr>
              <a:t>Reality</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err="1">
                <a:ln>
                  <a:noFill/>
                </a:ln>
                <a:solidFill>
                  <a:schemeClr val="tx1"/>
                </a:solidFill>
                <a:effectLst/>
                <a:latin typeface="Arial" panose="020B0604020202020204" pitchFamily="34" charset="0"/>
              </a:rPr>
              <a:t>Building</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the</a:t>
            </a:r>
            <a:r>
              <a:rPr kumimoji="0" lang="tr-TR" altLang="tr-TR" sz="1800" b="0" i="0" u="none" strike="noStrike" cap="none" normalizeH="0" baseline="0" dirty="0">
                <a:ln>
                  <a:noFill/>
                </a:ln>
                <a:solidFill>
                  <a:schemeClr val="tx1"/>
                </a:solidFill>
                <a:effectLst/>
                <a:latin typeface="Arial" panose="020B0604020202020204" pitchFamily="34" charset="0"/>
              </a:rPr>
              <a:t> CR3BP Environment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err="1">
                <a:ln>
                  <a:noFill/>
                </a:ln>
                <a:solidFill>
                  <a:schemeClr val="tx1"/>
                </a:solidFill>
                <a:effectLst/>
                <a:latin typeface="Arial" panose="020B0604020202020204" pitchFamily="34" charset="0"/>
              </a:rPr>
              <a:t>Defining</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the</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Target</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Orbit</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err="1">
                <a:ln>
                  <a:noFill/>
                </a:ln>
                <a:solidFill>
                  <a:schemeClr val="tx1"/>
                </a:solidFill>
                <a:effectLst/>
                <a:latin typeface="Arial" panose="020B0604020202020204" pitchFamily="34" charset="0"/>
              </a:rPr>
              <a:t>Trajectory</a:t>
            </a:r>
            <a:r>
              <a:rPr kumimoji="0" lang="tr-TR" altLang="tr-TR" sz="1800" b="0" i="0" u="none" strike="noStrike" cap="none" normalizeH="0" baseline="0" dirty="0">
                <a:ln>
                  <a:noFill/>
                </a:ln>
                <a:solidFill>
                  <a:schemeClr val="tx1"/>
                </a:solidFill>
                <a:effectLst/>
                <a:latin typeface="Arial" panose="020B0604020202020204" pitchFamily="34" charset="0"/>
              </a:rPr>
              <a:t> Design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err="1">
                <a:ln>
                  <a:noFill/>
                </a:ln>
                <a:solidFill>
                  <a:schemeClr val="tx1"/>
                </a:solidFill>
                <a:effectLst/>
                <a:latin typeface="Arial" panose="020B0604020202020204" pitchFamily="34" charset="0"/>
              </a:rPr>
              <a:t>The</a:t>
            </a:r>
            <a:r>
              <a:rPr kumimoji="0" lang="tr-TR" altLang="tr-TR" sz="1800" b="0" i="0" u="none" strike="noStrike" cap="none" normalizeH="0" baseline="0" dirty="0">
                <a:ln>
                  <a:noFill/>
                </a:ln>
                <a:solidFill>
                  <a:schemeClr val="tx1"/>
                </a:solidFill>
                <a:effectLst/>
                <a:latin typeface="Arial" panose="020B0604020202020204" pitchFamily="34" charset="0"/>
              </a:rPr>
              <a:t> Full </a:t>
            </a:r>
            <a:r>
              <a:rPr kumimoji="0" lang="tr-TR" altLang="tr-TR" sz="1800" b="0" i="0" u="none" strike="noStrike" cap="none" normalizeH="0" baseline="0" dirty="0" err="1">
                <a:ln>
                  <a:noFill/>
                </a:ln>
                <a:solidFill>
                  <a:schemeClr val="tx1"/>
                </a:solidFill>
                <a:effectLst/>
                <a:latin typeface="Arial" panose="020B0604020202020204" pitchFamily="34" charset="0"/>
              </a:rPr>
              <a:t>Trajectory</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Sequence</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tr-TR" altLang="tr-TR" sz="1800" b="1" i="0" u="none" strike="noStrike" cap="none" normalizeH="0" baseline="0" dirty="0">
                <a:ln>
                  <a:noFill/>
                </a:ln>
                <a:solidFill>
                  <a:schemeClr val="tx1"/>
                </a:solidFill>
                <a:effectLst/>
                <a:latin typeface="Arial" panose="020B0604020202020204" pitchFamily="34" charset="0"/>
              </a:rPr>
              <a:t>5.Results &amp; </a:t>
            </a:r>
            <a:r>
              <a:rPr kumimoji="0" lang="tr-TR" altLang="tr-TR" sz="1800" b="1" i="0" u="none" strike="noStrike" cap="none" normalizeH="0" baseline="0" dirty="0" err="1">
                <a:ln>
                  <a:noFill/>
                </a:ln>
                <a:solidFill>
                  <a:schemeClr val="tx1"/>
                </a:solidFill>
                <a:effectLst/>
                <a:latin typeface="Arial" panose="020B0604020202020204" pitchFamily="34" charset="0"/>
              </a:rPr>
              <a:t>Conclusion</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Key</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findings</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and</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evaluation</a:t>
            </a:r>
            <a:r>
              <a:rPr kumimoji="0" lang="tr-TR" altLang="tr-TR"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018907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0FA1FC64-3985-B76D-92BE-CE787F775F82}"/>
              </a:ext>
            </a:extLst>
          </p:cNvPr>
          <p:cNvSpPr txBox="1"/>
          <p:nvPr/>
        </p:nvSpPr>
        <p:spPr>
          <a:xfrm>
            <a:off x="5491269" y="462744"/>
            <a:ext cx="4541628" cy="523220"/>
          </a:xfrm>
          <a:prstGeom prst="rect">
            <a:avLst/>
          </a:prstGeom>
          <a:noFill/>
        </p:spPr>
        <p:txBody>
          <a:bodyPr wrap="none" rtlCol="0">
            <a:spAutoFit/>
          </a:bodyPr>
          <a:lstStyle/>
          <a:p>
            <a:r>
              <a:rPr lang="tr-TR" sz="2800" dirty="0">
                <a:solidFill>
                  <a:schemeClr val="bg1"/>
                </a:solidFill>
                <a:latin typeface="Helvetica" pitchFamily="2" charset="0"/>
              </a:rPr>
              <a:t>1. </a:t>
            </a:r>
            <a:r>
              <a:rPr lang="tr-TR" sz="2800" dirty="0" err="1">
                <a:solidFill>
                  <a:schemeClr val="bg1"/>
                </a:solidFill>
                <a:latin typeface="Helvetica" pitchFamily="2" charset="0"/>
              </a:rPr>
              <a:t>Introduction</a:t>
            </a:r>
            <a:r>
              <a:rPr lang="tr-TR" sz="2800" dirty="0">
                <a:solidFill>
                  <a:schemeClr val="bg1"/>
                </a:solidFill>
                <a:latin typeface="Helvetica" pitchFamily="2" charset="0"/>
              </a:rPr>
              <a:t> &amp; </a:t>
            </a:r>
            <a:r>
              <a:rPr lang="tr-TR" sz="2800" dirty="0" err="1">
                <a:solidFill>
                  <a:schemeClr val="bg1"/>
                </a:solidFill>
                <a:latin typeface="Helvetica" pitchFamily="2" charset="0"/>
              </a:rPr>
              <a:t>Motivation</a:t>
            </a:r>
            <a:endParaRPr lang="tr-TR" sz="2800" dirty="0">
              <a:solidFill>
                <a:schemeClr val="bg1"/>
              </a:solidFill>
              <a:latin typeface="Helvetica" pitchFamily="2" charset="0"/>
            </a:endParaRPr>
          </a:p>
        </p:txBody>
      </p:sp>
      <p:sp>
        <p:nvSpPr>
          <p:cNvPr id="5" name="AutoShape 2">
            <a:extLst>
              <a:ext uri="{FF2B5EF4-FFF2-40B4-BE49-F238E27FC236}">
                <a16:creationId xmlns:a16="http://schemas.microsoft.com/office/drawing/2014/main" id="{2C462BDB-44CF-4E8C-BEEA-17DC3AEB86FB}"/>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7" name="Resim 6">
            <a:extLst>
              <a:ext uri="{FF2B5EF4-FFF2-40B4-BE49-F238E27FC236}">
                <a16:creationId xmlns:a16="http://schemas.microsoft.com/office/drawing/2014/main" id="{C69FB454-0F25-4888-A367-91DC1474D8AC}"/>
              </a:ext>
            </a:extLst>
          </p:cNvPr>
          <p:cNvPicPr>
            <a:picLocks noChangeAspect="1"/>
          </p:cNvPicPr>
          <p:nvPr/>
        </p:nvPicPr>
        <p:blipFill>
          <a:blip r:embed="rId2"/>
          <a:stretch>
            <a:fillRect/>
          </a:stretch>
        </p:blipFill>
        <p:spPr>
          <a:xfrm>
            <a:off x="-478452" y="1599508"/>
            <a:ext cx="5699210" cy="4275775"/>
          </a:xfrm>
          <a:prstGeom prst="rect">
            <a:avLst/>
          </a:prstGeom>
        </p:spPr>
      </p:pic>
      <p:sp>
        <p:nvSpPr>
          <p:cNvPr id="14" name="Metin kutusu 13">
            <a:extLst>
              <a:ext uri="{FF2B5EF4-FFF2-40B4-BE49-F238E27FC236}">
                <a16:creationId xmlns:a16="http://schemas.microsoft.com/office/drawing/2014/main" id="{73AC270B-3378-4D5F-9C02-732737E53F6C}"/>
              </a:ext>
            </a:extLst>
          </p:cNvPr>
          <p:cNvSpPr txBox="1"/>
          <p:nvPr/>
        </p:nvSpPr>
        <p:spPr>
          <a:xfrm>
            <a:off x="5656595" y="2704237"/>
            <a:ext cx="5021916" cy="2031325"/>
          </a:xfrm>
          <a:prstGeom prst="rect">
            <a:avLst/>
          </a:prstGeom>
          <a:noFill/>
        </p:spPr>
        <p:txBody>
          <a:bodyPr wrap="square" rtlCol="0">
            <a:spAutoFit/>
          </a:bodyPr>
          <a:lstStyle/>
          <a:p>
            <a:r>
              <a:rPr lang="en-US" b="1" dirty="0">
                <a:latin typeface="Helvetica" panose="020B0604020202020204" pitchFamily="34" charset="0"/>
                <a:cs typeface="Helvetica" panose="020B0604020202020204" pitchFamily="34" charset="0"/>
              </a:rPr>
              <a:t>The CubeSat Revolution: </a:t>
            </a:r>
            <a:r>
              <a:rPr lang="en-US" dirty="0">
                <a:latin typeface="Helvetica" panose="020B0604020202020204" pitchFamily="34" charset="0"/>
                <a:cs typeface="Helvetica" panose="020B0604020202020204" pitchFamily="34" charset="0"/>
              </a:rPr>
              <a:t>From LEO to Deep</a:t>
            </a:r>
            <a:r>
              <a:rPr lang="tr-TR" dirty="0">
                <a:latin typeface="Helvetica" panose="020B0604020202020204" pitchFamily="34" charset="0"/>
                <a:cs typeface="Helvetica" panose="020B0604020202020204" pitchFamily="34" charset="0"/>
              </a:rPr>
              <a:t> </a:t>
            </a:r>
            <a:r>
              <a:rPr lang="en-US" dirty="0">
                <a:latin typeface="Helvetica" panose="020B0604020202020204" pitchFamily="34" charset="0"/>
                <a:cs typeface="Helvetica" panose="020B0604020202020204" pitchFamily="34" charset="0"/>
              </a:rPr>
              <a:t>Space.</a:t>
            </a:r>
            <a:endParaRPr lang="tr-TR"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 </a:t>
            </a:r>
            <a:endParaRPr lang="tr-TR" dirty="0">
              <a:latin typeface="Helvetica" panose="020B0604020202020204" pitchFamily="34" charset="0"/>
              <a:cs typeface="Helvetica" panose="020B0604020202020204" pitchFamily="34" charset="0"/>
            </a:endParaRPr>
          </a:p>
          <a:p>
            <a:r>
              <a:rPr lang="en-US" b="1" dirty="0">
                <a:latin typeface="Helvetica" panose="020B0604020202020204" pitchFamily="34" charset="0"/>
                <a:cs typeface="Helvetica" panose="020B0604020202020204" pitchFamily="34" charset="0"/>
              </a:rPr>
              <a:t>Artemis-1: </a:t>
            </a:r>
            <a:r>
              <a:rPr lang="en-US" dirty="0">
                <a:latin typeface="Helvetica" panose="020B0604020202020204" pitchFamily="34" charset="0"/>
                <a:cs typeface="Helvetica" panose="020B0604020202020204" pitchFamily="34" charset="0"/>
              </a:rPr>
              <a:t>A New Frontier for Small Satellites.</a:t>
            </a:r>
            <a:endParaRPr lang="tr-TR" dirty="0">
              <a:latin typeface="Helvetica" panose="020B0604020202020204" pitchFamily="34" charset="0"/>
              <a:cs typeface="Helvetica" panose="020B0604020202020204" pitchFamily="34" charset="0"/>
            </a:endParaRPr>
          </a:p>
          <a:p>
            <a:endParaRPr lang="tr-TR" dirty="0">
              <a:latin typeface="Helvetica" panose="020B0604020202020204" pitchFamily="34" charset="0"/>
              <a:cs typeface="Helvetica" panose="020B0604020202020204" pitchFamily="34" charset="0"/>
            </a:endParaRPr>
          </a:p>
          <a:p>
            <a:r>
              <a:rPr lang="en-US" b="1" dirty="0">
                <a:latin typeface="Helvetica" panose="020B0604020202020204" pitchFamily="34" charset="0"/>
                <a:cs typeface="Helvetica" panose="020B0604020202020204" pitchFamily="34" charset="0"/>
              </a:rPr>
              <a:t>A Landmark Mission: </a:t>
            </a:r>
            <a:r>
              <a:rPr lang="en-US" dirty="0">
                <a:latin typeface="Helvetica" panose="020B0604020202020204" pitchFamily="34" charset="0"/>
                <a:cs typeface="Helvetica" panose="020B0604020202020204" pitchFamily="34" charset="0"/>
              </a:rPr>
              <a:t>Proving Potential In the Face of High-Risk Challenges.</a:t>
            </a:r>
            <a:endParaRPr lang="tr-TR" dirty="0">
              <a:latin typeface="Helvetica" panose="020B0604020202020204" pitchFamily="34" charset="0"/>
              <a:cs typeface="Helvetica" panose="020B0604020202020204" pitchFamily="34" charset="0"/>
            </a:endParaRPr>
          </a:p>
        </p:txBody>
      </p:sp>
      <p:sp>
        <p:nvSpPr>
          <p:cNvPr id="8" name="Metin kutusu 7">
            <a:extLst>
              <a:ext uri="{FF2B5EF4-FFF2-40B4-BE49-F238E27FC236}">
                <a16:creationId xmlns:a16="http://schemas.microsoft.com/office/drawing/2014/main" id="{236EB2D4-4DB9-4CBE-94F6-6F6BC539AE74}"/>
              </a:ext>
            </a:extLst>
          </p:cNvPr>
          <p:cNvSpPr txBox="1"/>
          <p:nvPr/>
        </p:nvSpPr>
        <p:spPr>
          <a:xfrm>
            <a:off x="11114348" y="321945"/>
            <a:ext cx="3686837" cy="5909310"/>
          </a:xfrm>
          <a:prstGeom prst="rect">
            <a:avLst/>
          </a:prstGeom>
          <a:noFill/>
        </p:spPr>
        <p:txBody>
          <a:bodyPr wrap="square">
            <a:spAutoFit/>
          </a:bodyPr>
          <a:lstStyle/>
          <a:p>
            <a:r>
              <a:rPr lang="en-US" b="1" dirty="0"/>
              <a:t>Talking Points:</a:t>
            </a:r>
            <a:r>
              <a:rPr lang="en-US" dirty="0"/>
              <a:t> "CubeSats have truly revolutionized access to space. For the last two decades, their low cost and standardized form factor have democratized space. We are now witnessing a major shift as these small platforms are pushed beyond LEO and into deep space. The Artemis-1 mission was a landmark moment in this shift, demonstrating the incredible potential of small satellites as secondary payloads for deep space science. However, the mission also served as a stark reminder of the harsh realities. Of the ten CubeSats deployed, several experienced critical issues. This is not seen as a failure, but rather as a crucial learning experience, providing invaluable data on the challenges of deep space operations."</a:t>
            </a:r>
            <a:endParaRPr lang="tr-TR" dirty="0"/>
          </a:p>
        </p:txBody>
      </p:sp>
    </p:spTree>
    <p:extLst>
      <p:ext uri="{BB962C8B-B14F-4D97-AF65-F5344CB8AC3E}">
        <p14:creationId xmlns:p14="http://schemas.microsoft.com/office/powerpoint/2010/main" val="2102228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etin kutusu 6">
            <a:extLst>
              <a:ext uri="{FF2B5EF4-FFF2-40B4-BE49-F238E27FC236}">
                <a16:creationId xmlns:a16="http://schemas.microsoft.com/office/drawing/2014/main" id="{AF68CD33-E2FB-DB7B-B964-08DE62404157}"/>
              </a:ext>
            </a:extLst>
          </p:cNvPr>
          <p:cNvSpPr txBox="1"/>
          <p:nvPr/>
        </p:nvSpPr>
        <p:spPr>
          <a:xfrm>
            <a:off x="5491269" y="462744"/>
            <a:ext cx="3638560" cy="954107"/>
          </a:xfrm>
          <a:prstGeom prst="rect">
            <a:avLst/>
          </a:prstGeom>
          <a:noFill/>
        </p:spPr>
        <p:txBody>
          <a:bodyPr wrap="square" rtlCol="0">
            <a:spAutoFit/>
          </a:bodyPr>
          <a:lstStyle/>
          <a:p>
            <a:r>
              <a:rPr lang="tr-TR" sz="2800" dirty="0">
                <a:solidFill>
                  <a:schemeClr val="bg1"/>
                </a:solidFill>
                <a:latin typeface="Helvetica" pitchFamily="2" charset="0"/>
              </a:rPr>
              <a:t>1. Project </a:t>
            </a:r>
            <a:r>
              <a:rPr lang="tr-TR" sz="2800" dirty="0" err="1">
                <a:solidFill>
                  <a:schemeClr val="bg1"/>
                </a:solidFill>
                <a:latin typeface="Helvetica" pitchFamily="2" charset="0"/>
              </a:rPr>
              <a:t>Aims</a:t>
            </a:r>
            <a:r>
              <a:rPr lang="tr-TR" sz="2800" dirty="0">
                <a:solidFill>
                  <a:schemeClr val="bg1"/>
                </a:solidFill>
                <a:latin typeface="Helvetica" pitchFamily="2" charset="0"/>
              </a:rPr>
              <a:t> &amp; </a:t>
            </a:r>
            <a:r>
              <a:rPr lang="tr-TR" sz="2800" dirty="0" err="1">
                <a:solidFill>
                  <a:schemeClr val="bg1"/>
                </a:solidFill>
                <a:latin typeface="Helvetica" pitchFamily="2" charset="0"/>
              </a:rPr>
              <a:t>Scope</a:t>
            </a:r>
            <a:endParaRPr lang="tr-TR" sz="2800" dirty="0">
              <a:solidFill>
                <a:schemeClr val="bg1"/>
              </a:solidFill>
              <a:latin typeface="Helvetica" pitchFamily="2" charset="0"/>
            </a:endParaRPr>
          </a:p>
        </p:txBody>
      </p:sp>
      <p:sp>
        <p:nvSpPr>
          <p:cNvPr id="9" name="Rectangle 3">
            <a:extLst>
              <a:ext uri="{FF2B5EF4-FFF2-40B4-BE49-F238E27FC236}">
                <a16:creationId xmlns:a16="http://schemas.microsoft.com/office/drawing/2014/main" id="{3EF6EE68-5B0E-47A1-A4F5-CCD6215256F4}"/>
              </a:ext>
            </a:extLst>
          </p:cNvPr>
          <p:cNvSpPr>
            <a:spLocks noChangeArrowheads="1"/>
          </p:cNvSpPr>
          <p:nvPr/>
        </p:nvSpPr>
        <p:spPr bwMode="auto">
          <a:xfrm>
            <a:off x="986325" y="2320789"/>
            <a:ext cx="9009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
        <p:nvSpPr>
          <p:cNvPr id="8" name="AutoShape 2">
            <a:extLst>
              <a:ext uri="{FF2B5EF4-FFF2-40B4-BE49-F238E27FC236}">
                <a16:creationId xmlns:a16="http://schemas.microsoft.com/office/drawing/2014/main" id="{A2F0BC68-3139-4813-B5DB-73F2A386439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0" name="AutoShape 4">
            <a:extLst>
              <a:ext uri="{FF2B5EF4-FFF2-40B4-BE49-F238E27FC236}">
                <a16:creationId xmlns:a16="http://schemas.microsoft.com/office/drawing/2014/main" id="{937DC998-AEB3-438B-855F-6CEDE2E15DF2}"/>
              </a:ext>
            </a:extLst>
          </p:cNvPr>
          <p:cNvSpPr>
            <a:spLocks noChangeAspect="1" noChangeArrowheads="1"/>
          </p:cNvSpPr>
          <p:nvPr/>
        </p:nvSpPr>
        <p:spPr bwMode="auto">
          <a:xfrm>
            <a:off x="4572000" y="3429000"/>
            <a:ext cx="2370338" cy="23703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15" name="Resim 14">
            <a:extLst>
              <a:ext uri="{FF2B5EF4-FFF2-40B4-BE49-F238E27FC236}">
                <a16:creationId xmlns:a16="http://schemas.microsoft.com/office/drawing/2014/main" id="{9B509B8A-573E-4BD9-9EC9-B9FF8A5E1892}"/>
              </a:ext>
            </a:extLst>
          </p:cNvPr>
          <p:cNvPicPr>
            <a:picLocks noChangeAspect="1"/>
          </p:cNvPicPr>
          <p:nvPr/>
        </p:nvPicPr>
        <p:blipFill rotWithShape="1">
          <a:blip r:embed="rId2"/>
          <a:srcRect b="10279"/>
          <a:stretch/>
        </p:blipFill>
        <p:spPr>
          <a:xfrm>
            <a:off x="265043" y="1674062"/>
            <a:ext cx="9144000" cy="4474947"/>
          </a:xfrm>
          <a:prstGeom prst="rect">
            <a:avLst/>
          </a:prstGeom>
        </p:spPr>
      </p:pic>
      <p:sp>
        <p:nvSpPr>
          <p:cNvPr id="17" name="Metin kutusu 16">
            <a:extLst>
              <a:ext uri="{FF2B5EF4-FFF2-40B4-BE49-F238E27FC236}">
                <a16:creationId xmlns:a16="http://schemas.microsoft.com/office/drawing/2014/main" id="{1DECAEEE-1C52-4C2B-97B0-F52C751A1646}"/>
              </a:ext>
            </a:extLst>
          </p:cNvPr>
          <p:cNvSpPr txBox="1"/>
          <p:nvPr/>
        </p:nvSpPr>
        <p:spPr>
          <a:xfrm>
            <a:off x="11249295" y="985964"/>
            <a:ext cx="2773250" cy="5078313"/>
          </a:xfrm>
          <a:prstGeom prst="rect">
            <a:avLst/>
          </a:prstGeom>
          <a:noFill/>
        </p:spPr>
        <p:txBody>
          <a:bodyPr wrap="square">
            <a:spAutoFit/>
          </a:bodyPr>
          <a:lstStyle/>
          <a:p>
            <a:r>
              <a:rPr lang="en-US" b="1" dirty="0"/>
              <a:t>Talking Points:</a:t>
            </a:r>
            <a:r>
              <a:rPr lang="en-US" dirty="0"/>
              <a:t> "The primary goal of this project was to design efficient and adaptable lunar trajectories for CubeSats. To achieve this, we focused on two main areas: investigating low-energy transfer trajectories and targeting strategically important and stable orbits around the Moon. In our work, we concentrated specifically on the Distant Retrograde Orbit (DRO) due to its unique stability and its relevance to the Artemis program."</a:t>
            </a:r>
            <a:endParaRPr lang="tr-TR" dirty="0"/>
          </a:p>
        </p:txBody>
      </p:sp>
    </p:spTree>
    <p:extLst>
      <p:ext uri="{BB962C8B-B14F-4D97-AF65-F5344CB8AC3E}">
        <p14:creationId xmlns:p14="http://schemas.microsoft.com/office/powerpoint/2010/main" val="4254579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etin kutusu 6">
            <a:extLst>
              <a:ext uri="{FF2B5EF4-FFF2-40B4-BE49-F238E27FC236}">
                <a16:creationId xmlns:a16="http://schemas.microsoft.com/office/drawing/2014/main" id="{AF68CD33-E2FB-DB7B-B964-08DE62404157}"/>
              </a:ext>
            </a:extLst>
          </p:cNvPr>
          <p:cNvSpPr txBox="1"/>
          <p:nvPr/>
        </p:nvSpPr>
        <p:spPr>
          <a:xfrm>
            <a:off x="5151934" y="451021"/>
            <a:ext cx="6162841" cy="477054"/>
          </a:xfrm>
          <a:prstGeom prst="rect">
            <a:avLst/>
          </a:prstGeom>
          <a:noFill/>
        </p:spPr>
        <p:txBody>
          <a:bodyPr wrap="none" rtlCol="0">
            <a:spAutoFit/>
          </a:bodyPr>
          <a:lstStyle/>
          <a:p>
            <a:r>
              <a:rPr lang="tr-TR" sz="2500" dirty="0">
                <a:solidFill>
                  <a:schemeClr val="bg1"/>
                </a:solidFill>
                <a:latin typeface="Helvetica" pitchFamily="2" charset="0"/>
              </a:rPr>
              <a:t>2. </a:t>
            </a:r>
            <a:r>
              <a:rPr lang="en-US" sz="2500" dirty="0">
                <a:solidFill>
                  <a:schemeClr val="bg1"/>
                </a:solidFill>
                <a:latin typeface="Helvetica" pitchFamily="2" charset="0"/>
              </a:rPr>
              <a:t>The Mission Challenge &amp; Our Approach</a:t>
            </a:r>
            <a:endParaRPr lang="tr-TR" sz="2500" dirty="0">
              <a:solidFill>
                <a:schemeClr val="bg1"/>
              </a:solidFill>
              <a:latin typeface="Helvetica" pitchFamily="2" charset="0"/>
            </a:endParaRPr>
          </a:p>
        </p:txBody>
      </p:sp>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7571303"/>
          </a:xfrm>
          <a:prstGeom prst="rect">
            <a:avLst/>
          </a:prstGeom>
          <a:noFill/>
        </p:spPr>
        <p:txBody>
          <a:bodyPr wrap="square">
            <a:spAutoFit/>
          </a:bodyPr>
          <a:lstStyle/>
          <a:p>
            <a:r>
              <a:rPr lang="en-US" b="1" dirty="0"/>
              <a:t>Talking Points:</a:t>
            </a:r>
            <a:r>
              <a:rPr lang="en-US" dirty="0"/>
              <a:t> "Before starting our design, we needed to understand the fundamental problem. A standard lunar transfer requires a total Delta-V of about </a:t>
            </a:r>
            <a:r>
              <a:rPr lang="en-US" b="1" dirty="0"/>
              <a:t>4,000 m/s</a:t>
            </a:r>
            <a:r>
              <a:rPr lang="en-US" dirty="0"/>
              <a:t>. The largest part of this budget, the Earth escape maneuver requiring </a:t>
            </a:r>
            <a:r>
              <a:rPr lang="en-US" b="1" dirty="0"/>
              <a:t>~3,100 m/s</a:t>
            </a:r>
            <a:r>
              <a:rPr lang="en-US" dirty="0"/>
              <a:t>, single-handedly exceeds the capabilities of CubeSat propulsion systems. This fundamental constraint means CubeSats must have a 'ride'—either as a secondary payload on a large launcher or by using an orbital transfer vehicle. Therefore, our work focuses on what happens </a:t>
            </a:r>
            <a:r>
              <a:rPr lang="en-US" i="1" dirty="0"/>
              <a:t>after</a:t>
            </a:r>
            <a:r>
              <a:rPr lang="en-US" dirty="0"/>
              <a:t> this initial step: Once a CubeSat is deployed on a lunar transfer trajectory, how can it most efficiently complete its mission with its limited fuel? This is where stable and low-energy orbits like NRHO, ELFO, and our project's focus, the DRO, emerge as the solution space."</a:t>
            </a:r>
            <a:endParaRPr lang="tr-TR" dirty="0"/>
          </a:p>
        </p:txBody>
      </p:sp>
      <p:sp>
        <p:nvSpPr>
          <p:cNvPr id="3" name="Rectangle 2">
            <a:extLst>
              <a:ext uri="{FF2B5EF4-FFF2-40B4-BE49-F238E27FC236}">
                <a16:creationId xmlns:a16="http://schemas.microsoft.com/office/drawing/2014/main" id="{910C9F15-2252-474B-8A91-5FFB525637FF}"/>
              </a:ext>
            </a:extLst>
          </p:cNvPr>
          <p:cNvSpPr>
            <a:spLocks noChangeArrowheads="1"/>
          </p:cNvSpPr>
          <p:nvPr/>
        </p:nvSpPr>
        <p:spPr bwMode="auto">
          <a:xfrm>
            <a:off x="4977559" y="2695923"/>
            <a:ext cx="47404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ΔV Problem:</a:t>
            </a:r>
            <a:r>
              <a:rPr kumimoji="0" lang="tr-TR" altLang="tr-TR" sz="1800" b="0" i="0" u="none" strike="noStrike" cap="none" normalizeH="0" baseline="0" dirty="0">
                <a:ln>
                  <a:noFill/>
                </a:ln>
                <a:solidFill>
                  <a:schemeClr val="tx1"/>
                </a:solidFill>
                <a:effectLst/>
                <a:latin typeface="Arial" panose="020B0604020202020204" pitchFamily="34" charset="0"/>
              </a:rPr>
              <a:t> Direct Transfer: ~4,000 m/s</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TLI </a:t>
            </a:r>
            <a:r>
              <a:rPr kumimoji="0" lang="tr-TR" altLang="tr-TR" sz="1800" b="1" i="0" u="none" strike="noStrike" cap="none" normalizeH="0" baseline="0" dirty="0" err="1">
                <a:ln>
                  <a:noFill/>
                </a:ln>
                <a:solidFill>
                  <a:schemeClr val="tx1"/>
                </a:solidFill>
                <a:effectLst/>
                <a:latin typeface="Arial" panose="020B0604020202020204" pitchFamily="34" charset="0"/>
              </a:rPr>
              <a:t>Hurdle</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Earth Escape: ~3,100 m/s</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CubeSat</a:t>
            </a:r>
            <a:r>
              <a:rPr kumimoji="0" lang="tr-TR" altLang="tr-TR" sz="1800" b="1"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Limitation</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Insufficient</a:t>
            </a:r>
            <a:r>
              <a:rPr kumimoji="0" lang="tr-TR" altLang="tr-TR" sz="1800" b="0" i="0" u="none" strike="noStrike" cap="none" normalizeH="0" baseline="0" dirty="0">
                <a:ln>
                  <a:noFill/>
                </a:ln>
                <a:solidFill>
                  <a:schemeClr val="tx1"/>
                </a:solidFill>
                <a:effectLst/>
                <a:latin typeface="Arial" panose="020B0604020202020204" pitchFamily="34" charset="0"/>
              </a:rPr>
              <a:t> ΔV </a:t>
            </a:r>
            <a:r>
              <a:rPr kumimoji="0" lang="tr-TR" altLang="tr-TR" sz="1800" b="0" i="0" u="none" strike="noStrike" cap="none" normalizeH="0" baseline="0" dirty="0" err="1">
                <a:ln>
                  <a:noFill/>
                </a:ln>
                <a:solidFill>
                  <a:schemeClr val="tx1"/>
                </a:solidFill>
                <a:effectLst/>
                <a:latin typeface="Arial" panose="020B0604020202020204" pitchFamily="34" charset="0"/>
              </a:rPr>
              <a:t>for</a:t>
            </a:r>
            <a:r>
              <a:rPr kumimoji="0" lang="tr-TR" altLang="tr-TR" sz="1800" b="0" i="0" u="none" strike="noStrike" cap="none" normalizeH="0" baseline="0" dirty="0">
                <a:ln>
                  <a:noFill/>
                </a:ln>
                <a:solidFill>
                  <a:schemeClr val="tx1"/>
                </a:solidFill>
                <a:effectLst/>
                <a:latin typeface="Arial" panose="020B0604020202020204" pitchFamily="34" charset="0"/>
              </a:rPr>
              <a:t> TLI</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Solution:</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Rideshare</a:t>
            </a:r>
            <a:r>
              <a:rPr kumimoji="0" lang="tr-TR" altLang="tr-TR" sz="1800" b="0" i="0" u="none" strike="noStrike" cap="none" normalizeH="0" baseline="0" dirty="0">
                <a:ln>
                  <a:noFill/>
                </a:ln>
                <a:solidFill>
                  <a:schemeClr val="tx1"/>
                </a:solidFill>
                <a:effectLst/>
                <a:latin typeface="Arial" panose="020B0604020202020204" pitchFamily="34" charset="0"/>
              </a:rPr>
              <a:t> / OTV </a:t>
            </a:r>
            <a:r>
              <a:rPr kumimoji="0" lang="tr-TR" altLang="tr-TR" sz="1800" b="0" i="0" u="none" strike="noStrike" cap="none" normalizeH="0" baseline="0" dirty="0" err="1">
                <a:ln>
                  <a:noFill/>
                </a:ln>
                <a:solidFill>
                  <a:schemeClr val="tx1"/>
                </a:solidFill>
                <a:effectLst/>
                <a:latin typeface="Arial" panose="020B0604020202020204" pitchFamily="34" charset="0"/>
              </a:rPr>
              <a:t>required</a:t>
            </a: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Our</a:t>
            </a:r>
            <a:r>
              <a:rPr kumimoji="0" lang="tr-TR" altLang="tr-TR" sz="1800" b="1"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Focus</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Post-TLI </a:t>
            </a:r>
            <a:r>
              <a:rPr kumimoji="0" lang="tr-TR" altLang="tr-TR" sz="1800" b="0" i="0" u="none" strike="noStrike" cap="none" normalizeH="0" baseline="0" dirty="0" err="1">
                <a:ln>
                  <a:noFill/>
                </a:ln>
                <a:solidFill>
                  <a:schemeClr val="tx1"/>
                </a:solidFill>
                <a:effectLst/>
                <a:latin typeface="Arial" panose="020B0604020202020204" pitchFamily="34" charset="0"/>
              </a:rPr>
              <a:t>trajectory</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optimization</a:t>
            </a: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
        <p:nvSpPr>
          <p:cNvPr id="5" name="AutoShape 6">
            <a:extLst>
              <a:ext uri="{FF2B5EF4-FFF2-40B4-BE49-F238E27FC236}">
                <a16:creationId xmlns:a16="http://schemas.microsoft.com/office/drawing/2014/main" id="{AEB7C955-BD3B-4F3A-9908-0776A6074CE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8">
            <a:extLst>
              <a:ext uri="{FF2B5EF4-FFF2-40B4-BE49-F238E27FC236}">
                <a16:creationId xmlns:a16="http://schemas.microsoft.com/office/drawing/2014/main" id="{85EC8780-E551-4DFA-86B6-988374CFEEA1}"/>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0" name="AutoShape 10">
            <a:extLst>
              <a:ext uri="{FF2B5EF4-FFF2-40B4-BE49-F238E27FC236}">
                <a16:creationId xmlns:a16="http://schemas.microsoft.com/office/drawing/2014/main" id="{2861A623-AA57-46D9-B3E3-12167EEE44AA}"/>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1" name="AutoShape 12">
            <a:extLst>
              <a:ext uri="{FF2B5EF4-FFF2-40B4-BE49-F238E27FC236}">
                <a16:creationId xmlns:a16="http://schemas.microsoft.com/office/drawing/2014/main" id="{3B4FD411-B3B6-40D5-9DFB-08273974EF74}"/>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13" name="Resim 12">
            <a:extLst>
              <a:ext uri="{FF2B5EF4-FFF2-40B4-BE49-F238E27FC236}">
                <a16:creationId xmlns:a16="http://schemas.microsoft.com/office/drawing/2014/main" id="{81F6A07E-BC42-427D-B86A-4498496C2A62}"/>
              </a:ext>
            </a:extLst>
          </p:cNvPr>
          <p:cNvPicPr>
            <a:picLocks noChangeAspect="1"/>
          </p:cNvPicPr>
          <p:nvPr/>
        </p:nvPicPr>
        <p:blipFill>
          <a:blip r:embed="rId2"/>
          <a:stretch>
            <a:fillRect/>
          </a:stretch>
        </p:blipFill>
        <p:spPr>
          <a:xfrm>
            <a:off x="-898202" y="2447058"/>
            <a:ext cx="5698802" cy="3083052"/>
          </a:xfrm>
          <a:prstGeom prst="rect">
            <a:avLst/>
          </a:prstGeom>
        </p:spPr>
      </p:pic>
      <p:sp>
        <p:nvSpPr>
          <p:cNvPr id="14" name="Metin kutusu 13">
            <a:extLst>
              <a:ext uri="{FF2B5EF4-FFF2-40B4-BE49-F238E27FC236}">
                <a16:creationId xmlns:a16="http://schemas.microsoft.com/office/drawing/2014/main" id="{70C13F56-EEC7-4977-83FA-65BF43728431}"/>
              </a:ext>
            </a:extLst>
          </p:cNvPr>
          <p:cNvSpPr txBox="1"/>
          <p:nvPr/>
        </p:nvSpPr>
        <p:spPr>
          <a:xfrm>
            <a:off x="5786356" y="6395256"/>
            <a:ext cx="8152383" cy="461665"/>
          </a:xfrm>
          <a:prstGeom prst="rect">
            <a:avLst/>
          </a:prstGeom>
          <a:noFill/>
        </p:spPr>
        <p:txBody>
          <a:bodyPr wrap="square" rtlCol="0">
            <a:spAutoFit/>
          </a:bodyPr>
          <a:lstStyle/>
          <a:p>
            <a:pPr algn="l"/>
            <a:r>
              <a:rPr lang="tr-TR" sz="800" dirty="0" err="1">
                <a:latin typeface="Helvetica" panose="020B0604020202020204" pitchFamily="34" charset="0"/>
                <a:cs typeface="Helvetica" panose="020B0604020202020204" pitchFamily="34" charset="0"/>
              </a:rPr>
              <a:t>Ref</a:t>
            </a:r>
            <a:r>
              <a:rPr lang="tr-TR" sz="800" dirty="0">
                <a:latin typeface="Helvetica" panose="020B0604020202020204" pitchFamily="34" charset="0"/>
                <a:cs typeface="Helvetica" panose="020B0604020202020204" pitchFamily="34" charset="0"/>
              </a:rPr>
              <a:t>: </a:t>
            </a:r>
            <a:r>
              <a:rPr lang="en-US" sz="800" b="0" i="0" u="none" strike="noStrike" baseline="0" dirty="0">
                <a:solidFill>
                  <a:srgbClr val="000000"/>
                </a:solidFill>
                <a:latin typeface="Helvetica" panose="020B0604020202020204" pitchFamily="34" charset="0"/>
                <a:cs typeface="Helvetica" panose="020B0604020202020204" pitchFamily="34" charset="0"/>
              </a:rPr>
              <a:t>NASA. WHY NRHO: THE ARTEMIS ORBIT. White Paper - Architecture Concept Review. 2022. URL: </a:t>
            </a:r>
            <a:r>
              <a:rPr lang="en-US" sz="800" b="0" i="0" u="none" strike="noStrike" baseline="0" dirty="0">
                <a:solidFill>
                  <a:srgbClr val="0000FF"/>
                </a:solidFill>
                <a:latin typeface="Helvetica" panose="020B0604020202020204" pitchFamily="34" charset="0"/>
                <a:cs typeface="Helvetica" panose="020B0604020202020204" pitchFamily="34" charset="0"/>
              </a:rPr>
              <a:t>https:</a:t>
            </a:r>
          </a:p>
          <a:p>
            <a:pPr algn="l"/>
            <a:r>
              <a:rPr lang="tr-TR" sz="800" b="0" i="0" u="none" strike="noStrike" baseline="0" dirty="0">
                <a:solidFill>
                  <a:srgbClr val="0000FF"/>
                </a:solidFill>
                <a:latin typeface="Helvetica" panose="020B0604020202020204" pitchFamily="34" charset="0"/>
                <a:cs typeface="Helvetica" panose="020B0604020202020204" pitchFamily="34" charset="0"/>
              </a:rPr>
              <a:t>//www.lpi.usra.edu/</a:t>
            </a:r>
            <a:r>
              <a:rPr lang="tr-TR" sz="800" b="0" i="0" u="none" strike="noStrike" baseline="0" dirty="0" err="1">
                <a:solidFill>
                  <a:srgbClr val="0000FF"/>
                </a:solidFill>
                <a:latin typeface="Helvetica" panose="020B0604020202020204" pitchFamily="34" charset="0"/>
                <a:cs typeface="Helvetica" panose="020B0604020202020204" pitchFamily="34" charset="0"/>
              </a:rPr>
              <a:t>lunar</a:t>
            </a:r>
            <a:r>
              <a:rPr lang="tr-TR" sz="800" b="0" i="0" u="none" strike="noStrike" baseline="0" dirty="0">
                <a:solidFill>
                  <a:srgbClr val="0000FF"/>
                </a:solidFill>
                <a:latin typeface="Helvetica" panose="020B0604020202020204" pitchFamily="34" charset="0"/>
                <a:cs typeface="Helvetica" panose="020B0604020202020204" pitchFamily="34" charset="0"/>
              </a:rPr>
              <a:t>/</a:t>
            </a:r>
            <a:r>
              <a:rPr lang="tr-TR" sz="800" b="0" i="0" u="none" strike="noStrike" baseline="0" dirty="0" err="1">
                <a:solidFill>
                  <a:srgbClr val="0000FF"/>
                </a:solidFill>
                <a:latin typeface="Helvetica" panose="020B0604020202020204" pitchFamily="34" charset="0"/>
                <a:cs typeface="Helvetica" panose="020B0604020202020204" pitchFamily="34" charset="0"/>
              </a:rPr>
              <a:t>artemis</a:t>
            </a:r>
            <a:r>
              <a:rPr lang="tr-TR" sz="800" b="0" i="0" u="none" strike="noStrike" baseline="0" dirty="0">
                <a:solidFill>
                  <a:srgbClr val="0000FF"/>
                </a:solidFill>
                <a:latin typeface="Helvetica" panose="020B0604020202020204" pitchFamily="34" charset="0"/>
                <a:cs typeface="Helvetica" panose="020B0604020202020204" pitchFamily="34" charset="0"/>
              </a:rPr>
              <a:t>/</a:t>
            </a:r>
            <a:r>
              <a:rPr lang="tr-TR" sz="800" b="0" i="0" u="none" strike="noStrike" baseline="0" dirty="0" err="1">
                <a:solidFill>
                  <a:srgbClr val="0000FF"/>
                </a:solidFill>
                <a:latin typeface="Helvetica" panose="020B0604020202020204" pitchFamily="34" charset="0"/>
                <a:cs typeface="Helvetica" panose="020B0604020202020204" pitchFamily="34" charset="0"/>
              </a:rPr>
              <a:t>resources</a:t>
            </a:r>
            <a:r>
              <a:rPr lang="tr-TR" sz="800" b="0" i="0" u="none" strike="noStrike" baseline="0" dirty="0">
                <a:solidFill>
                  <a:srgbClr val="0000FF"/>
                </a:solidFill>
                <a:latin typeface="Helvetica" panose="020B0604020202020204" pitchFamily="34" charset="0"/>
                <a:cs typeface="Helvetica" panose="020B0604020202020204" pitchFamily="34" charset="0"/>
              </a:rPr>
              <a:t>/WhitePaper_2023_WhyNRHA-TheArtemisOrbit.</a:t>
            </a:r>
          </a:p>
          <a:p>
            <a:pPr algn="l"/>
            <a:r>
              <a:rPr lang="tr-TR" sz="800" b="0" i="0" u="none" strike="noStrike" baseline="0" dirty="0" err="1">
                <a:solidFill>
                  <a:srgbClr val="0000FF"/>
                </a:solidFill>
                <a:latin typeface="Helvetica" panose="020B0604020202020204" pitchFamily="34" charset="0"/>
                <a:cs typeface="Helvetica" panose="020B0604020202020204" pitchFamily="34" charset="0"/>
              </a:rPr>
              <a:t>pdf</a:t>
            </a:r>
            <a:r>
              <a:rPr lang="tr-TR" sz="800" b="0" i="0" u="none" strike="noStrike" baseline="0" dirty="0">
                <a:solidFill>
                  <a:srgbClr val="000000"/>
                </a:solidFill>
                <a:latin typeface="Helvetica" panose="020B0604020202020204" pitchFamily="34" charset="0"/>
                <a:cs typeface="Helvetica" panose="020B0604020202020204" pitchFamily="34" charset="0"/>
              </a:rPr>
              <a:t>.</a:t>
            </a:r>
            <a:endParaRPr lang="tr-TR" sz="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571854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etin kutusu 6">
            <a:extLst>
              <a:ext uri="{FF2B5EF4-FFF2-40B4-BE49-F238E27FC236}">
                <a16:creationId xmlns:a16="http://schemas.microsoft.com/office/drawing/2014/main" id="{AF68CD33-E2FB-DB7B-B964-08DE62404157}"/>
              </a:ext>
            </a:extLst>
          </p:cNvPr>
          <p:cNvSpPr txBox="1"/>
          <p:nvPr/>
        </p:nvSpPr>
        <p:spPr>
          <a:xfrm>
            <a:off x="5151934" y="451021"/>
            <a:ext cx="4424609" cy="477054"/>
          </a:xfrm>
          <a:prstGeom prst="rect">
            <a:avLst/>
          </a:prstGeom>
          <a:noFill/>
        </p:spPr>
        <p:txBody>
          <a:bodyPr wrap="none" rtlCol="0">
            <a:spAutoFit/>
          </a:bodyPr>
          <a:lstStyle/>
          <a:p>
            <a:r>
              <a:rPr lang="tr-TR" sz="2500" dirty="0">
                <a:solidFill>
                  <a:schemeClr val="bg1"/>
                </a:solidFill>
                <a:latin typeface="Helvetica" pitchFamily="2" charset="0"/>
              </a:rPr>
              <a:t>2. </a:t>
            </a:r>
            <a:r>
              <a:rPr lang="en-US" sz="2500" dirty="0">
                <a:solidFill>
                  <a:schemeClr val="bg1"/>
                </a:solidFill>
                <a:latin typeface="Helvetica" pitchFamily="2" charset="0"/>
              </a:rPr>
              <a:t>Methodology &amp; Case Study</a:t>
            </a:r>
            <a:endParaRPr lang="tr-TR" sz="2500" dirty="0">
              <a:solidFill>
                <a:schemeClr val="bg1"/>
              </a:solidFill>
              <a:latin typeface="Helvetica" pitchFamily="2" charset="0"/>
            </a:endParaRPr>
          </a:p>
        </p:txBody>
      </p:sp>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5632311"/>
          </a:xfrm>
          <a:prstGeom prst="rect">
            <a:avLst/>
          </a:prstGeom>
          <a:noFill/>
        </p:spPr>
        <p:txBody>
          <a:bodyPr wrap="square">
            <a:spAutoFit/>
          </a:bodyPr>
          <a:lstStyle/>
          <a:p>
            <a:r>
              <a:rPr lang="en-US" b="1" dirty="0"/>
              <a:t>Talking Points:</a:t>
            </a:r>
            <a:r>
              <a:rPr lang="en-US" dirty="0"/>
              <a:t> "To solve this problem, we followed a two-stage methodology: We used MATLAB for preliminary analyses, then moved to STK for high-fidelity design and validation. To test our entire approach, we used a real case study: the Artemis-1 mission. This mission served as both a reference point and a validation scenario. The Artemis-1 CubeSats taught us invaluable lessons; most importantly, that just getting a ride to deep space isn't enough, and the reliability of the onboard systems is absolutely critical for mission success."</a:t>
            </a:r>
          </a:p>
        </p:txBody>
      </p:sp>
      <p:sp>
        <p:nvSpPr>
          <p:cNvPr id="5" name="AutoShape 6">
            <a:extLst>
              <a:ext uri="{FF2B5EF4-FFF2-40B4-BE49-F238E27FC236}">
                <a16:creationId xmlns:a16="http://schemas.microsoft.com/office/drawing/2014/main" id="{AEB7C955-BD3B-4F3A-9908-0776A6074CE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6" name="AutoShape 8">
            <a:extLst>
              <a:ext uri="{FF2B5EF4-FFF2-40B4-BE49-F238E27FC236}">
                <a16:creationId xmlns:a16="http://schemas.microsoft.com/office/drawing/2014/main" id="{85EC8780-E551-4DFA-86B6-988374CFEEA1}"/>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0" name="AutoShape 10">
            <a:extLst>
              <a:ext uri="{FF2B5EF4-FFF2-40B4-BE49-F238E27FC236}">
                <a16:creationId xmlns:a16="http://schemas.microsoft.com/office/drawing/2014/main" id="{2861A623-AA57-46D9-B3E3-12167EEE44AA}"/>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1" name="AutoShape 12">
            <a:extLst>
              <a:ext uri="{FF2B5EF4-FFF2-40B4-BE49-F238E27FC236}">
                <a16:creationId xmlns:a16="http://schemas.microsoft.com/office/drawing/2014/main" id="{3B4FD411-B3B6-40D5-9DFB-08273974EF74}"/>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4" name="Metin kutusu 13">
            <a:extLst>
              <a:ext uri="{FF2B5EF4-FFF2-40B4-BE49-F238E27FC236}">
                <a16:creationId xmlns:a16="http://schemas.microsoft.com/office/drawing/2014/main" id="{70C13F56-EEC7-4977-83FA-65BF43728431}"/>
              </a:ext>
            </a:extLst>
          </p:cNvPr>
          <p:cNvSpPr txBox="1"/>
          <p:nvPr/>
        </p:nvSpPr>
        <p:spPr>
          <a:xfrm>
            <a:off x="5786356" y="6395256"/>
            <a:ext cx="8152383" cy="461665"/>
          </a:xfrm>
          <a:prstGeom prst="rect">
            <a:avLst/>
          </a:prstGeom>
          <a:noFill/>
        </p:spPr>
        <p:txBody>
          <a:bodyPr wrap="square" rtlCol="0">
            <a:spAutoFit/>
          </a:bodyPr>
          <a:lstStyle/>
          <a:p>
            <a:pPr algn="l"/>
            <a:r>
              <a:rPr lang="tr-TR" sz="800" dirty="0" err="1">
                <a:latin typeface="Helvetica" panose="020B0604020202020204" pitchFamily="34" charset="0"/>
                <a:cs typeface="Helvetica" panose="020B0604020202020204" pitchFamily="34" charset="0"/>
              </a:rPr>
              <a:t>Ref</a:t>
            </a:r>
            <a:r>
              <a:rPr lang="tr-TR" sz="800" dirty="0">
                <a:latin typeface="Helvetica" panose="020B0604020202020204" pitchFamily="34" charset="0"/>
                <a:cs typeface="Helvetica" panose="020B0604020202020204" pitchFamily="34" charset="0"/>
              </a:rPr>
              <a:t>: </a:t>
            </a:r>
            <a:r>
              <a:rPr lang="en-US" sz="800" b="0" i="0" u="none" strike="noStrike" baseline="0" dirty="0">
                <a:solidFill>
                  <a:srgbClr val="000000"/>
                </a:solidFill>
                <a:latin typeface="Helvetica" panose="020B0604020202020204" pitchFamily="34" charset="0"/>
                <a:cs typeface="Helvetica" panose="020B0604020202020204" pitchFamily="34" charset="0"/>
              </a:rPr>
              <a:t>NASA. WHY</a:t>
            </a:r>
            <a:r>
              <a:rPr lang="tr-TR" sz="800" b="0" i="0" u="none" strike="noStrike" baseline="0" dirty="0">
                <a:solidFill>
                  <a:srgbClr val="000000"/>
                </a:solidFill>
                <a:latin typeface="Helvetica" panose="020B0604020202020204" pitchFamily="34" charset="0"/>
                <a:cs typeface="Helvetica" panose="020B0604020202020204" pitchFamily="34" charset="0"/>
              </a:rPr>
              <a:t>	</a:t>
            </a:r>
            <a:r>
              <a:rPr lang="en-US" sz="800" b="0" i="0" u="none" strike="noStrike" baseline="0" dirty="0">
                <a:solidFill>
                  <a:srgbClr val="000000"/>
                </a:solidFill>
                <a:latin typeface="Helvetica" panose="020B0604020202020204" pitchFamily="34" charset="0"/>
                <a:cs typeface="Helvetica" panose="020B0604020202020204" pitchFamily="34" charset="0"/>
              </a:rPr>
              <a:t> NRHO: THE ARTEMIS ORBIT. White Paper - Architecture Concept Review. 2022. URL: </a:t>
            </a:r>
            <a:r>
              <a:rPr lang="en-US" sz="800" b="0" i="0" u="none" strike="noStrike" baseline="0" dirty="0">
                <a:solidFill>
                  <a:srgbClr val="0000FF"/>
                </a:solidFill>
                <a:latin typeface="Helvetica" panose="020B0604020202020204" pitchFamily="34" charset="0"/>
                <a:cs typeface="Helvetica" panose="020B0604020202020204" pitchFamily="34" charset="0"/>
              </a:rPr>
              <a:t>https:</a:t>
            </a:r>
          </a:p>
          <a:p>
            <a:pPr algn="l"/>
            <a:r>
              <a:rPr lang="tr-TR" sz="800" b="0" i="0" u="none" strike="noStrike" baseline="0" dirty="0">
                <a:solidFill>
                  <a:srgbClr val="0000FF"/>
                </a:solidFill>
                <a:latin typeface="Helvetica" panose="020B0604020202020204" pitchFamily="34" charset="0"/>
                <a:cs typeface="Helvetica" panose="020B0604020202020204" pitchFamily="34" charset="0"/>
              </a:rPr>
              <a:t>//www.lpi.usra.edu/</a:t>
            </a:r>
            <a:r>
              <a:rPr lang="tr-TR" sz="800" b="0" i="0" u="none" strike="noStrike" baseline="0" dirty="0" err="1">
                <a:solidFill>
                  <a:srgbClr val="0000FF"/>
                </a:solidFill>
                <a:latin typeface="Helvetica" panose="020B0604020202020204" pitchFamily="34" charset="0"/>
                <a:cs typeface="Helvetica" panose="020B0604020202020204" pitchFamily="34" charset="0"/>
              </a:rPr>
              <a:t>lunar</a:t>
            </a:r>
            <a:r>
              <a:rPr lang="tr-TR" sz="800" b="0" i="0" u="none" strike="noStrike" baseline="0" dirty="0">
                <a:solidFill>
                  <a:srgbClr val="0000FF"/>
                </a:solidFill>
                <a:latin typeface="Helvetica" panose="020B0604020202020204" pitchFamily="34" charset="0"/>
                <a:cs typeface="Helvetica" panose="020B0604020202020204" pitchFamily="34" charset="0"/>
              </a:rPr>
              <a:t>/</a:t>
            </a:r>
            <a:r>
              <a:rPr lang="tr-TR" sz="800" b="0" i="0" u="none" strike="noStrike" baseline="0" dirty="0" err="1">
                <a:solidFill>
                  <a:srgbClr val="0000FF"/>
                </a:solidFill>
                <a:latin typeface="Helvetica" panose="020B0604020202020204" pitchFamily="34" charset="0"/>
                <a:cs typeface="Helvetica" panose="020B0604020202020204" pitchFamily="34" charset="0"/>
              </a:rPr>
              <a:t>artemis</a:t>
            </a:r>
            <a:r>
              <a:rPr lang="tr-TR" sz="800" b="0" i="0" u="none" strike="noStrike" baseline="0" dirty="0">
                <a:solidFill>
                  <a:srgbClr val="0000FF"/>
                </a:solidFill>
                <a:latin typeface="Helvetica" panose="020B0604020202020204" pitchFamily="34" charset="0"/>
                <a:cs typeface="Helvetica" panose="020B0604020202020204" pitchFamily="34" charset="0"/>
              </a:rPr>
              <a:t>/</a:t>
            </a:r>
            <a:r>
              <a:rPr lang="tr-TR" sz="800" b="0" i="0" u="none" strike="noStrike" baseline="0" dirty="0" err="1">
                <a:solidFill>
                  <a:srgbClr val="0000FF"/>
                </a:solidFill>
                <a:latin typeface="Helvetica" panose="020B0604020202020204" pitchFamily="34" charset="0"/>
                <a:cs typeface="Helvetica" panose="020B0604020202020204" pitchFamily="34" charset="0"/>
              </a:rPr>
              <a:t>resources</a:t>
            </a:r>
            <a:r>
              <a:rPr lang="tr-TR" sz="800" b="0" i="0" u="none" strike="noStrike" baseline="0" dirty="0">
                <a:solidFill>
                  <a:srgbClr val="0000FF"/>
                </a:solidFill>
                <a:latin typeface="Helvetica" panose="020B0604020202020204" pitchFamily="34" charset="0"/>
                <a:cs typeface="Helvetica" panose="020B0604020202020204" pitchFamily="34" charset="0"/>
              </a:rPr>
              <a:t>/WhitePaper_2023_WhyNRHA-TheArtemisOrbit.</a:t>
            </a:r>
          </a:p>
          <a:p>
            <a:pPr algn="l"/>
            <a:r>
              <a:rPr lang="tr-TR" sz="800" b="0" i="0" u="none" strike="noStrike" baseline="0" dirty="0" err="1">
                <a:solidFill>
                  <a:srgbClr val="0000FF"/>
                </a:solidFill>
                <a:latin typeface="Helvetica" panose="020B0604020202020204" pitchFamily="34" charset="0"/>
                <a:cs typeface="Helvetica" panose="020B0604020202020204" pitchFamily="34" charset="0"/>
              </a:rPr>
              <a:t>pdf</a:t>
            </a:r>
            <a:r>
              <a:rPr lang="tr-TR" sz="800" b="0" i="0" u="none" strike="noStrike" baseline="0" dirty="0">
                <a:solidFill>
                  <a:srgbClr val="000000"/>
                </a:solidFill>
                <a:latin typeface="Helvetica" panose="020B0604020202020204" pitchFamily="34" charset="0"/>
                <a:cs typeface="Helvetica" panose="020B0604020202020204" pitchFamily="34" charset="0"/>
              </a:rPr>
              <a:t>.</a:t>
            </a:r>
            <a:endParaRPr lang="tr-TR" sz="800" dirty="0">
              <a:latin typeface="Helvetica" panose="020B0604020202020204" pitchFamily="34" charset="0"/>
              <a:cs typeface="Helvetica" panose="020B0604020202020204" pitchFamily="34" charset="0"/>
            </a:endParaRPr>
          </a:p>
        </p:txBody>
      </p:sp>
      <p:sp>
        <p:nvSpPr>
          <p:cNvPr id="2" name="Rectangle 1">
            <a:extLst>
              <a:ext uri="{FF2B5EF4-FFF2-40B4-BE49-F238E27FC236}">
                <a16:creationId xmlns:a16="http://schemas.microsoft.com/office/drawing/2014/main" id="{822902CD-DF42-43E3-A8AA-89102076FAC0}"/>
              </a:ext>
            </a:extLst>
          </p:cNvPr>
          <p:cNvSpPr>
            <a:spLocks noChangeArrowheads="1"/>
          </p:cNvSpPr>
          <p:nvPr/>
        </p:nvSpPr>
        <p:spPr bwMode="auto">
          <a:xfrm>
            <a:off x="4310151" y="2842736"/>
            <a:ext cx="65273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Workflow</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MATLAB (Analysis) → STK (Design &amp; </a:t>
            </a:r>
            <a:r>
              <a:rPr kumimoji="0" lang="tr-TR" altLang="tr-TR" sz="1800" b="0" i="0" u="none" strike="noStrike" cap="none" normalizeH="0" baseline="0" dirty="0" err="1">
                <a:ln>
                  <a:noFill/>
                </a:ln>
                <a:solidFill>
                  <a:schemeClr val="tx1"/>
                </a:solidFill>
                <a:effectLst/>
                <a:latin typeface="Arial" panose="020B0604020202020204" pitchFamily="34" charset="0"/>
              </a:rPr>
              <a:t>Simulation</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Benchmark</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Artemis-1 </a:t>
            </a:r>
            <a:r>
              <a:rPr kumimoji="0" lang="tr-TR" altLang="tr-TR" sz="1800" b="0" i="0" u="none" strike="noStrike" cap="none" normalizeH="0" baseline="0" dirty="0" err="1">
                <a:ln>
                  <a:noFill/>
                </a:ln>
                <a:solidFill>
                  <a:schemeClr val="tx1"/>
                </a:solidFill>
                <a:effectLst/>
                <a:latin typeface="Arial" panose="020B0604020202020204" pitchFamily="34" charset="0"/>
              </a:rPr>
              <a:t>Mission</a:t>
            </a:r>
            <a:r>
              <a:rPr kumimoji="0" lang="tr-TR" altLang="tr-TR" sz="1800" b="0" i="0" u="none" strike="noStrike" cap="none" normalizeH="0" baseline="0" dirty="0">
                <a:ln>
                  <a:noFill/>
                </a:ln>
                <a:solidFill>
                  <a:schemeClr val="tx1"/>
                </a:solidFill>
                <a:effectLst/>
                <a:latin typeface="Arial" panose="020B0604020202020204" pitchFamily="34" charset="0"/>
              </a:rPr>
              <a:t> Profile</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Key</a:t>
            </a:r>
            <a:r>
              <a:rPr kumimoji="0" lang="tr-TR" altLang="tr-TR" sz="1800" b="1"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Lesson</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Onboard</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System</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Reliability</a:t>
            </a:r>
            <a:r>
              <a:rPr kumimoji="0" lang="tr-TR" altLang="tr-TR" sz="1800" b="0" i="0" u="none" strike="noStrike" cap="none" normalizeH="0" baseline="0" dirty="0">
                <a:ln>
                  <a:noFill/>
                </a:ln>
                <a:solidFill>
                  <a:schemeClr val="tx1"/>
                </a:solidFill>
                <a:effectLst/>
                <a:latin typeface="Arial" panose="020B0604020202020204" pitchFamily="34" charset="0"/>
              </a:rPr>
              <a:t> is Critical</a:t>
            </a:r>
          </a:p>
        </p:txBody>
      </p:sp>
      <p:pic>
        <p:nvPicPr>
          <p:cNvPr id="6147" name="Picture 3" descr="MATLAB - Vikipedi">
            <a:extLst>
              <a:ext uri="{FF2B5EF4-FFF2-40B4-BE49-F238E27FC236}">
                <a16:creationId xmlns:a16="http://schemas.microsoft.com/office/drawing/2014/main" id="{6265A3DD-4538-4A6D-87E8-CE7445CCAA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051" y="2636608"/>
            <a:ext cx="2257425" cy="2019300"/>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AWS Marketplace: Ansys Systems Tool Kit (STK) 12.7.1">
            <a:extLst>
              <a:ext uri="{FF2B5EF4-FFF2-40B4-BE49-F238E27FC236}">
                <a16:creationId xmlns:a16="http://schemas.microsoft.com/office/drawing/2014/main" id="{00B20EAC-58A0-43E1-8768-191ABFA4D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7291" y="2636608"/>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286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etin kutusu 6">
            <a:extLst>
              <a:ext uri="{FF2B5EF4-FFF2-40B4-BE49-F238E27FC236}">
                <a16:creationId xmlns:a16="http://schemas.microsoft.com/office/drawing/2014/main" id="{AF68CD33-E2FB-DB7B-B964-08DE62404157}"/>
              </a:ext>
            </a:extLst>
          </p:cNvPr>
          <p:cNvSpPr txBox="1"/>
          <p:nvPr/>
        </p:nvSpPr>
        <p:spPr>
          <a:xfrm>
            <a:off x="5503626" y="462744"/>
            <a:ext cx="3454728" cy="523220"/>
          </a:xfrm>
          <a:prstGeom prst="rect">
            <a:avLst/>
          </a:prstGeom>
          <a:noFill/>
        </p:spPr>
        <p:txBody>
          <a:bodyPr wrap="none" rtlCol="0">
            <a:spAutoFit/>
          </a:bodyPr>
          <a:lstStyle/>
          <a:p>
            <a:r>
              <a:rPr lang="tr-TR" sz="2800" dirty="0">
                <a:solidFill>
                  <a:schemeClr val="bg1"/>
                </a:solidFill>
                <a:latin typeface="Helvetica" pitchFamily="2" charset="0"/>
              </a:rPr>
              <a:t>3. </a:t>
            </a:r>
            <a:r>
              <a:rPr lang="en-US" sz="2800" dirty="0">
                <a:solidFill>
                  <a:schemeClr val="bg1"/>
                </a:solidFill>
                <a:latin typeface="Helvetica" pitchFamily="2" charset="0"/>
              </a:rPr>
              <a:t>Theory vs. Reality</a:t>
            </a:r>
            <a:endParaRPr lang="tr-TR" sz="2800" dirty="0">
              <a:solidFill>
                <a:schemeClr val="bg1"/>
              </a:solidFill>
              <a:latin typeface="Helvetica" pitchFamily="2" charset="0"/>
            </a:endParaRPr>
          </a:p>
        </p:txBody>
      </p:sp>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12280285"/>
          </a:xfrm>
          <a:prstGeom prst="rect">
            <a:avLst/>
          </a:prstGeom>
          <a:noFill/>
        </p:spPr>
        <p:txBody>
          <a:bodyPr wrap="square">
            <a:spAutoFit/>
          </a:bodyPr>
          <a:lstStyle/>
          <a:p>
            <a:r>
              <a:rPr lang="en-US" dirty="0"/>
              <a:t>"When we moved to the simulation phase, our initial goal was to recreate the Artemis-1 trajectory in STK using NASA's published ephemeris data. However, we encountered a fundamental theoretical challenge. For a successful DRO trajectory design, we needed to use the Three-Body Problem model, which allows us to understand and control the system's dynamics. At this point, we </a:t>
            </a:r>
            <a:r>
              <a:rPr lang="tr-TR" dirty="0" err="1"/>
              <a:t>decided</a:t>
            </a:r>
            <a:r>
              <a:rPr lang="tr-TR" dirty="0"/>
              <a:t> </a:t>
            </a:r>
            <a:r>
              <a:rPr lang="tr-TR" dirty="0" err="1"/>
              <a:t>to</a:t>
            </a:r>
            <a:r>
              <a:rPr lang="tr-TR" dirty="0"/>
              <a:t> </a:t>
            </a:r>
            <a:r>
              <a:rPr lang="tr-TR" dirty="0" err="1"/>
              <a:t>use</a:t>
            </a:r>
            <a:r>
              <a:rPr lang="en-US" dirty="0"/>
              <a:t> </a:t>
            </a:r>
            <a:r>
              <a:rPr lang="tr-TR" dirty="0" err="1"/>
              <a:t>the</a:t>
            </a:r>
            <a:r>
              <a:rPr lang="tr-TR" dirty="0"/>
              <a:t> </a:t>
            </a:r>
            <a:r>
              <a:rPr lang="en-US" b="1" dirty="0"/>
              <a:t>Circular Restricted Three-Body Problem (CR3BP)</a:t>
            </a:r>
            <a:r>
              <a:rPr lang="en-US" dirty="0"/>
              <a:t>, as it is more comprehensible and, most importantly, allows for an integral of motion like the </a:t>
            </a:r>
            <a:r>
              <a:rPr lang="en-US" b="1" dirty="0"/>
              <a:t>Jacobi Constant</a:t>
            </a:r>
            <a:r>
              <a:rPr lang="en-US" dirty="0"/>
              <a:t>. The Jacobi Constant represents the energy level of the orbit, and its conservation throughout an orbit is the strongest way to confirm the simulation's accuracy and that the spacecraft is on the correct path. However, the CR3BP model assumes that the Earth and Moon orbit in perfect circles. The real lunar orbit is elliptical. This conflict, as you can see, creates a positional difference between our 'Idealized Moon' and the real Moon in the simulation. Therefore, instead of replicating the mission </a:t>
            </a:r>
            <a:r>
              <a:rPr lang="tr-TR" dirty="0"/>
              <a:t>in </a:t>
            </a:r>
            <a:r>
              <a:rPr lang="tr-TR" dirty="0" err="1"/>
              <a:t>every</a:t>
            </a:r>
            <a:r>
              <a:rPr lang="tr-TR" dirty="0"/>
              <a:t> </a:t>
            </a:r>
            <a:r>
              <a:rPr lang="tr-TR" dirty="0" err="1"/>
              <a:t>detail</a:t>
            </a:r>
            <a:r>
              <a:rPr lang="en-US" dirty="0"/>
              <a:t>, we decided to reconstruct the mission's </a:t>
            </a:r>
            <a:r>
              <a:rPr lang="tr-TR" b="1" dirty="0" err="1"/>
              <a:t>fundamental</a:t>
            </a:r>
            <a:r>
              <a:rPr lang="tr-TR" b="1" dirty="0"/>
              <a:t> </a:t>
            </a:r>
            <a:r>
              <a:rPr lang="tr-TR" b="1" dirty="0" err="1"/>
              <a:t>design</a:t>
            </a:r>
            <a:r>
              <a:rPr lang="tr-TR" b="1" dirty="0"/>
              <a:t> </a:t>
            </a:r>
            <a:r>
              <a:rPr lang="en-US" dirty="0"/>
              <a:t>within the consistent mathematical framework of the CR3BP."</a:t>
            </a:r>
          </a:p>
        </p:txBody>
      </p:sp>
      <p:pic>
        <p:nvPicPr>
          <p:cNvPr id="9" name="Resim 8">
            <a:extLst>
              <a:ext uri="{FF2B5EF4-FFF2-40B4-BE49-F238E27FC236}">
                <a16:creationId xmlns:a16="http://schemas.microsoft.com/office/drawing/2014/main" id="{8564F891-573C-444F-9890-7F7E3944F64D}"/>
              </a:ext>
            </a:extLst>
          </p:cNvPr>
          <p:cNvPicPr/>
          <p:nvPr/>
        </p:nvPicPr>
        <p:blipFill>
          <a:blip r:embed="rId2"/>
          <a:stretch>
            <a:fillRect/>
          </a:stretch>
        </p:blipFill>
        <p:spPr>
          <a:xfrm>
            <a:off x="-841496" y="2151191"/>
            <a:ext cx="5337296" cy="3259009"/>
          </a:xfrm>
          <a:prstGeom prst="rect">
            <a:avLst/>
          </a:prstGeom>
        </p:spPr>
      </p:pic>
      <p:sp>
        <p:nvSpPr>
          <p:cNvPr id="2" name="Rectangle 1">
            <a:extLst>
              <a:ext uri="{FF2B5EF4-FFF2-40B4-BE49-F238E27FC236}">
                <a16:creationId xmlns:a16="http://schemas.microsoft.com/office/drawing/2014/main" id="{D6FC5AA0-2932-4EC8-871D-71DF60FAA742}"/>
              </a:ext>
            </a:extLst>
          </p:cNvPr>
          <p:cNvSpPr>
            <a:spLocks noChangeArrowheads="1"/>
          </p:cNvSpPr>
          <p:nvPr/>
        </p:nvSpPr>
        <p:spPr bwMode="auto">
          <a:xfrm>
            <a:off x="4789714" y="2984251"/>
            <a:ext cx="610840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Problem:</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Elliptical</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Reality</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vs.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Circular</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Model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Conflict</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Direct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Playback</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Impossible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Solution:</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Reconstruct</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Mission</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within</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CR3BP Framework</a:t>
            </a:r>
          </a:p>
        </p:txBody>
      </p:sp>
    </p:spTree>
    <p:extLst>
      <p:ext uri="{BB962C8B-B14F-4D97-AF65-F5344CB8AC3E}">
        <p14:creationId xmlns:p14="http://schemas.microsoft.com/office/powerpoint/2010/main" val="3240435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7571303"/>
          </a:xfrm>
          <a:prstGeom prst="rect">
            <a:avLst/>
          </a:prstGeom>
          <a:noFill/>
        </p:spPr>
        <p:txBody>
          <a:bodyPr wrap="square">
            <a:spAutoFit/>
          </a:bodyPr>
          <a:lstStyle/>
          <a:p>
            <a:r>
              <a:rPr lang="en-US" dirty="0"/>
              <a:t>"To overcome this challenge and create a consistent analysis environment, our first step was to use STK's CR3BP Setup Tool. We configured this tool using the Artemis-1 launch time, November 16, 2022, as the reference epoch. This ensured our idealized system was as close as possible to the configuration at the actual start of the mission. The tool created a virtual 'Ideal Moon' for us, moving in a perfect circular orbit, and calculated fundamental constants specific to this system, such as the mass parameter and characteristic length. However, its most critical output was the automatic definition of the barycentric, rotating reference frame, which is mandatory for analyzing periodic orbits like the DRO. This </a:t>
            </a:r>
            <a:r>
              <a:rPr lang="tr-TR" dirty="0" err="1"/>
              <a:t>setup</a:t>
            </a:r>
            <a:r>
              <a:rPr lang="en-US" dirty="0"/>
              <a:t> formed the foundation of our analysis."</a:t>
            </a:r>
            <a:endParaRPr lang="tr-TR" dirty="0"/>
          </a:p>
        </p:txBody>
      </p:sp>
      <p:pic>
        <p:nvPicPr>
          <p:cNvPr id="5" name="Resim 4">
            <a:extLst>
              <a:ext uri="{FF2B5EF4-FFF2-40B4-BE49-F238E27FC236}">
                <a16:creationId xmlns:a16="http://schemas.microsoft.com/office/drawing/2014/main" id="{CDBF8D81-9BAD-4DDB-9B99-BE5F794DE903}"/>
              </a:ext>
            </a:extLst>
          </p:cNvPr>
          <p:cNvPicPr/>
          <p:nvPr/>
        </p:nvPicPr>
        <p:blipFill>
          <a:blip r:embed="rId2"/>
          <a:stretch>
            <a:fillRect/>
          </a:stretch>
        </p:blipFill>
        <p:spPr>
          <a:xfrm>
            <a:off x="98236" y="1670128"/>
            <a:ext cx="5191074" cy="4508046"/>
          </a:xfrm>
          <a:prstGeom prst="rect">
            <a:avLst/>
          </a:prstGeom>
        </p:spPr>
      </p:pic>
      <p:sp>
        <p:nvSpPr>
          <p:cNvPr id="6" name="Metin kutusu 5">
            <a:extLst>
              <a:ext uri="{FF2B5EF4-FFF2-40B4-BE49-F238E27FC236}">
                <a16:creationId xmlns:a16="http://schemas.microsoft.com/office/drawing/2014/main" id="{0440123A-1D0D-4103-9D25-2C86FAD3BEDC}"/>
              </a:ext>
            </a:extLst>
          </p:cNvPr>
          <p:cNvSpPr txBox="1"/>
          <p:nvPr/>
        </p:nvSpPr>
        <p:spPr>
          <a:xfrm>
            <a:off x="5103341" y="462744"/>
            <a:ext cx="6261587" cy="523220"/>
          </a:xfrm>
          <a:prstGeom prst="rect">
            <a:avLst/>
          </a:prstGeom>
          <a:noFill/>
        </p:spPr>
        <p:txBody>
          <a:bodyPr wrap="square" rtlCol="0">
            <a:spAutoFit/>
          </a:bodyPr>
          <a:lstStyle/>
          <a:p>
            <a:r>
              <a:rPr lang="tr-TR" sz="2700" dirty="0">
                <a:solidFill>
                  <a:schemeClr val="bg1"/>
                </a:solidFill>
                <a:latin typeface="Helvetica" pitchFamily="2" charset="0"/>
              </a:rPr>
              <a:t>3. </a:t>
            </a:r>
            <a:r>
              <a:rPr lang="en-US" sz="2700" dirty="0">
                <a:solidFill>
                  <a:schemeClr val="bg1"/>
                </a:solidFill>
                <a:latin typeface="Helvetica" pitchFamily="2" charset="0"/>
              </a:rPr>
              <a:t>Building the CR3BP Environment</a:t>
            </a:r>
            <a:endParaRPr lang="tr-TR" sz="2700" dirty="0">
              <a:solidFill>
                <a:schemeClr val="bg1"/>
              </a:solidFill>
              <a:latin typeface="Helvetica" pitchFamily="2" charset="0"/>
            </a:endParaRPr>
          </a:p>
        </p:txBody>
      </p:sp>
      <p:sp>
        <p:nvSpPr>
          <p:cNvPr id="2" name="Rectangle 1">
            <a:extLst>
              <a:ext uri="{FF2B5EF4-FFF2-40B4-BE49-F238E27FC236}">
                <a16:creationId xmlns:a16="http://schemas.microsoft.com/office/drawing/2014/main" id="{0C96F2AE-71F5-48AE-87F3-FA5F87CE3CB7}"/>
              </a:ext>
            </a:extLst>
          </p:cNvPr>
          <p:cNvSpPr>
            <a:spLocks noChangeArrowheads="1"/>
          </p:cNvSpPr>
          <p:nvPr/>
        </p:nvSpPr>
        <p:spPr bwMode="auto">
          <a:xfrm>
            <a:off x="5585254" y="2857153"/>
            <a:ext cx="498405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Tool</a:t>
            </a:r>
            <a:r>
              <a:rPr kumimoji="0" lang="tr-TR" altLang="tr-TR"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r>
              <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CR3BP </a:t>
            </a:r>
            <a:r>
              <a:rPr kumimoji="0" lang="tr-TR" altLang="tr-TR"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Setup</a:t>
            </a:r>
            <a:r>
              <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Tool</a:t>
            </a:r>
            <a:endPar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Action:</a:t>
            </a:r>
            <a:r>
              <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Create</a:t>
            </a:r>
            <a:r>
              <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Ideal</a:t>
            </a:r>
            <a:r>
              <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Moon" (</a:t>
            </a:r>
            <a:r>
              <a:rPr kumimoji="0" lang="tr-TR" altLang="tr-TR"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Circular</a:t>
            </a:r>
            <a:r>
              <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Orbit</a:t>
            </a:r>
            <a:r>
              <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Result</a:t>
            </a:r>
            <a:r>
              <a:rPr kumimoji="0" lang="tr-TR" altLang="tr-TR"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r>
              <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Establish</a:t>
            </a:r>
            <a:r>
              <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Barycentric</a:t>
            </a:r>
            <a:r>
              <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Rotating</a:t>
            </a:r>
            <a:r>
              <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Frame</a:t>
            </a:r>
            <a:endParaRPr kumimoji="0" lang="tr-TR" altLang="tr-TR"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779184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7571303"/>
          </a:xfrm>
          <a:prstGeom prst="rect">
            <a:avLst/>
          </a:prstGeom>
          <a:noFill/>
        </p:spPr>
        <p:txBody>
          <a:bodyPr wrap="square">
            <a:spAutoFit/>
          </a:bodyPr>
          <a:lstStyle/>
          <a:p>
            <a:pPr lvl="1"/>
            <a:r>
              <a:rPr lang="en-US" dirty="0"/>
              <a:t>Talking Points: "Once our environment was set up, we needed to precisely define our target DRO. For this, we used NASA JPL's public Periodic Orbit Database. This database provided us with a non-dimensional initial state vector for our desired DRO. To use this data in STK, we had to </a:t>
            </a:r>
            <a:r>
              <a:rPr lang="en-US" dirty="0" err="1"/>
              <a:t>dimensionalize</a:t>
            </a:r>
            <a:r>
              <a:rPr lang="en-US" dirty="0"/>
              <a:t> it. We did this using the Characteristic Distance and Characteristic Velocity values calculated by the CR3BP Setup Tool. By multiplying the non-dimensional components by these scaling factors, we obtained the precise initial state vector in kilometers and km/s, which established the starting point for our simulation."</a:t>
            </a:r>
            <a:endParaRPr lang="tr-TR" dirty="0"/>
          </a:p>
        </p:txBody>
      </p:sp>
      <p:sp>
        <p:nvSpPr>
          <p:cNvPr id="6" name="Metin kutusu 5">
            <a:extLst>
              <a:ext uri="{FF2B5EF4-FFF2-40B4-BE49-F238E27FC236}">
                <a16:creationId xmlns:a16="http://schemas.microsoft.com/office/drawing/2014/main" id="{0440123A-1D0D-4103-9D25-2C86FAD3BEDC}"/>
              </a:ext>
            </a:extLst>
          </p:cNvPr>
          <p:cNvSpPr txBox="1"/>
          <p:nvPr/>
        </p:nvSpPr>
        <p:spPr>
          <a:xfrm>
            <a:off x="5491269" y="462744"/>
            <a:ext cx="4476097" cy="523220"/>
          </a:xfrm>
          <a:prstGeom prst="rect">
            <a:avLst/>
          </a:prstGeom>
          <a:noFill/>
        </p:spPr>
        <p:txBody>
          <a:bodyPr wrap="none" rtlCol="0">
            <a:spAutoFit/>
          </a:bodyPr>
          <a:lstStyle/>
          <a:p>
            <a:r>
              <a:rPr lang="tr-TR" sz="2800" dirty="0">
                <a:solidFill>
                  <a:schemeClr val="bg1"/>
                </a:solidFill>
                <a:latin typeface="Helvetica" pitchFamily="2" charset="0"/>
              </a:rPr>
              <a:t>3. </a:t>
            </a:r>
            <a:r>
              <a:rPr lang="en-US" sz="2800" dirty="0">
                <a:solidFill>
                  <a:schemeClr val="bg1"/>
                </a:solidFill>
                <a:latin typeface="Helvetica" pitchFamily="2" charset="0"/>
              </a:rPr>
              <a:t>Defining the Target Orbit</a:t>
            </a:r>
            <a:endParaRPr lang="tr-TR" sz="2800" dirty="0">
              <a:solidFill>
                <a:schemeClr val="bg1"/>
              </a:solidFill>
              <a:latin typeface="Helvetica" pitchFamily="2" charset="0"/>
            </a:endParaRPr>
          </a:p>
        </p:txBody>
      </p:sp>
      <p:sp>
        <p:nvSpPr>
          <p:cNvPr id="2" name="Rectangle 1">
            <a:extLst>
              <a:ext uri="{FF2B5EF4-FFF2-40B4-BE49-F238E27FC236}">
                <a16:creationId xmlns:a16="http://schemas.microsoft.com/office/drawing/2014/main" id="{0C96F2AE-71F5-48AE-87F3-FA5F87CE3CB7}"/>
              </a:ext>
            </a:extLst>
          </p:cNvPr>
          <p:cNvSpPr>
            <a:spLocks noChangeArrowheads="1"/>
          </p:cNvSpPr>
          <p:nvPr/>
        </p:nvSpPr>
        <p:spPr bwMode="auto">
          <a:xfrm>
            <a:off x="-374093" y="1242374"/>
            <a:ext cx="10121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l-PL" altLang="tr-TR"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Distance (1 LU): </a:t>
            </a:r>
            <a:r>
              <a:rPr kumimoji="0" lang="pl-PL" altLang="tr-TR"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384878.8410196 km</a:t>
            </a:r>
            <a:r>
              <a:rPr kumimoji="0" lang="tr-TR" altLang="tr-TR"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pl-PL" altLang="tr-TR"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pl-PL" altLang="tr-TR"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Velocity (1 LU/TU): </a:t>
            </a:r>
            <a:r>
              <a:rPr kumimoji="0" lang="pl-PL" altLang="tr-TR"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1.023909319880 km/s</a:t>
            </a:r>
            <a:endParaRPr kumimoji="0" lang="tr-TR" altLang="tr-TR"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graphicFrame>
        <p:nvGraphicFramePr>
          <p:cNvPr id="3" name="Tablo 3">
            <a:extLst>
              <a:ext uri="{FF2B5EF4-FFF2-40B4-BE49-F238E27FC236}">
                <a16:creationId xmlns:a16="http://schemas.microsoft.com/office/drawing/2014/main" id="{81D99BFB-4F82-4B33-83EE-DE9648376CE8}"/>
              </a:ext>
            </a:extLst>
          </p:cNvPr>
          <p:cNvGraphicFramePr>
            <a:graphicFrameLocks noGrp="1"/>
          </p:cNvGraphicFramePr>
          <p:nvPr>
            <p:extLst>
              <p:ext uri="{D42A27DB-BD31-4B8C-83A1-F6EECF244321}">
                <p14:modId xmlns:p14="http://schemas.microsoft.com/office/powerpoint/2010/main" val="1016050500"/>
              </p:ext>
            </p:extLst>
          </p:nvPr>
        </p:nvGraphicFramePr>
        <p:xfrm>
          <a:off x="-292834" y="1862293"/>
          <a:ext cx="10985338" cy="3813309"/>
        </p:xfrm>
        <a:graphic>
          <a:graphicData uri="http://schemas.openxmlformats.org/drawingml/2006/table">
            <a:tbl>
              <a:tblPr firstRow="1" bandRow="1">
                <a:tableStyleId>{5C22544A-7EE6-4342-B048-85BDC9FD1C3A}</a:tableStyleId>
              </a:tblPr>
              <a:tblGrid>
                <a:gridCol w="2068943">
                  <a:extLst>
                    <a:ext uri="{9D8B030D-6E8A-4147-A177-3AD203B41FA5}">
                      <a16:colId xmlns:a16="http://schemas.microsoft.com/office/drawing/2014/main" val="4070238344"/>
                    </a:ext>
                  </a:extLst>
                </a:gridCol>
                <a:gridCol w="2752728">
                  <a:extLst>
                    <a:ext uri="{9D8B030D-6E8A-4147-A177-3AD203B41FA5}">
                      <a16:colId xmlns:a16="http://schemas.microsoft.com/office/drawing/2014/main" val="358424733"/>
                    </a:ext>
                  </a:extLst>
                </a:gridCol>
                <a:gridCol w="3776582">
                  <a:extLst>
                    <a:ext uri="{9D8B030D-6E8A-4147-A177-3AD203B41FA5}">
                      <a16:colId xmlns:a16="http://schemas.microsoft.com/office/drawing/2014/main" val="1460088885"/>
                    </a:ext>
                  </a:extLst>
                </a:gridCol>
                <a:gridCol w="2387085">
                  <a:extLst>
                    <a:ext uri="{9D8B030D-6E8A-4147-A177-3AD203B41FA5}">
                      <a16:colId xmlns:a16="http://schemas.microsoft.com/office/drawing/2014/main" val="4069485061"/>
                    </a:ext>
                  </a:extLst>
                </a:gridCol>
              </a:tblGrid>
              <a:tr h="4694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Component</a:t>
                      </a:r>
                    </a:p>
                    <a:p>
                      <a:endParaRPr lang="tr-TR" dirty="0">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latin typeface="Helvetica" panose="020B0604020202020204" pitchFamily="34" charset="0"/>
                          <a:ea typeface="Ebrima" panose="02000000000000000000" pitchFamily="2" charset="0"/>
                          <a:cs typeface="Helvetica" panose="020B0604020202020204" pitchFamily="34" charset="0"/>
                        </a:rPr>
                        <a:t>NASA </a:t>
                      </a:r>
                      <a:r>
                        <a:rPr lang="tr-TR" dirty="0" err="1">
                          <a:latin typeface="Helvetica" panose="020B0604020202020204" pitchFamily="34" charset="0"/>
                          <a:ea typeface="Ebrima" panose="02000000000000000000" pitchFamily="2" charset="0"/>
                          <a:cs typeface="Helvetica" panose="020B0604020202020204" pitchFamily="34" charset="0"/>
                        </a:rPr>
                        <a:t>Input</a:t>
                      </a:r>
                      <a:r>
                        <a:rPr lang="tr-TR" dirty="0">
                          <a:latin typeface="Helvetica" panose="020B0604020202020204" pitchFamily="34" charset="0"/>
                          <a:ea typeface="Ebrima" panose="02000000000000000000" pitchFamily="2" charset="0"/>
                          <a:cs typeface="Helvetica" panose="020B0604020202020204" pitchFamily="34" charset="0"/>
                        </a:rPr>
                        <a:t> (</a:t>
                      </a:r>
                      <a:r>
                        <a:rPr lang="tr-TR" dirty="0" err="1">
                          <a:latin typeface="Helvetica" panose="020B0604020202020204" pitchFamily="34" charset="0"/>
                          <a:ea typeface="Ebrima" panose="02000000000000000000" pitchFamily="2" charset="0"/>
                          <a:cs typeface="Helvetica" panose="020B0604020202020204" pitchFamily="34" charset="0"/>
                        </a:rPr>
                        <a:t>Dimensionless</a:t>
                      </a:r>
                      <a:r>
                        <a:rPr lang="tr-TR" dirty="0">
                          <a:latin typeface="Helvetica" panose="020B0604020202020204" pitchFamily="34" charset="0"/>
                          <a:ea typeface="Ebrima" panose="02000000000000000000" pitchFamily="2" charset="0"/>
                          <a:cs typeface="Helvetica" panose="020B0604020202020204" pitchFamily="34" charset="0"/>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err="1">
                          <a:latin typeface="Helvetica" panose="020B0604020202020204" pitchFamily="34" charset="0"/>
                          <a:ea typeface="Ebrima" panose="02000000000000000000" pitchFamily="2" charset="0"/>
                          <a:cs typeface="Helvetica" panose="020B0604020202020204" pitchFamily="34" charset="0"/>
                        </a:rPr>
                        <a:t>Calculation</a:t>
                      </a:r>
                      <a:endParaRPr lang="tr-TR" dirty="0">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latin typeface="Helvetica" panose="020B0604020202020204" pitchFamily="34" charset="0"/>
                          <a:ea typeface="Ebrima" panose="02000000000000000000" pitchFamily="2" charset="0"/>
                          <a:cs typeface="Helvetica" panose="020B0604020202020204" pitchFamily="34" charset="0"/>
                        </a:rPr>
                        <a:t>Earth-Moon </a:t>
                      </a:r>
                      <a:r>
                        <a:rPr lang="tr-TR" dirty="0" err="1">
                          <a:latin typeface="Helvetica" panose="020B0604020202020204" pitchFamily="34" charset="0"/>
                          <a:ea typeface="Ebrima" panose="02000000000000000000" pitchFamily="2" charset="0"/>
                          <a:cs typeface="Helvetica" panose="020B0604020202020204" pitchFamily="34" charset="0"/>
                        </a:rPr>
                        <a:t>Barycenter</a:t>
                      </a:r>
                      <a:r>
                        <a:rPr lang="tr-TR" dirty="0">
                          <a:latin typeface="Helvetica" panose="020B0604020202020204" pitchFamily="34" charset="0"/>
                          <a:ea typeface="Ebrima" panose="02000000000000000000" pitchFamily="2" charset="0"/>
                          <a:cs typeface="Helvetica" panose="020B0604020202020204" pitchFamily="34" charset="0"/>
                        </a:rPr>
                        <a:t> </a:t>
                      </a:r>
                      <a:r>
                        <a:rPr lang="tr-TR" dirty="0" err="1">
                          <a:latin typeface="Helvetica" panose="020B0604020202020204" pitchFamily="34" charset="0"/>
                          <a:ea typeface="Ebrima" panose="02000000000000000000" pitchFamily="2" charset="0"/>
                          <a:cs typeface="Helvetica" panose="020B0604020202020204" pitchFamily="34" charset="0"/>
                        </a:rPr>
                        <a:t>State</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extLst>
                  <a:ext uri="{0D108BD9-81ED-4DB2-BD59-A6C34878D82A}">
                    <a16:rowId xmlns:a16="http://schemas.microsoft.com/office/drawing/2014/main" val="3718624106"/>
                  </a:ext>
                </a:extLst>
              </a:tr>
              <a:tr h="417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Position X</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0.960 LU</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0.960 * 384878.841... km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369483.687 km</a:t>
                      </a:r>
                    </a:p>
                  </a:txBody>
                  <a:tcPr/>
                </a:tc>
                <a:extLst>
                  <a:ext uri="{0D108BD9-81ED-4DB2-BD59-A6C34878D82A}">
                    <a16:rowId xmlns:a16="http://schemas.microsoft.com/office/drawing/2014/main" val="807400184"/>
                  </a:ext>
                </a:extLst>
              </a:tr>
              <a:tr h="4694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Position Y</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~0 LU</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~0 * 384878.841... Km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0 km</a:t>
                      </a:r>
                    </a:p>
                    <a:p>
                      <a:endParaRPr lang="tr-TR" dirty="0">
                        <a:latin typeface="Helvetica" panose="020B0604020202020204" pitchFamily="34" charset="0"/>
                        <a:ea typeface="Ebrima" panose="02000000000000000000" pitchFamily="2" charset="0"/>
                        <a:cs typeface="Helvetica" panose="020B0604020202020204" pitchFamily="34" charset="0"/>
                      </a:endParaRPr>
                    </a:p>
                  </a:txBody>
                  <a:tcPr/>
                </a:tc>
                <a:extLst>
                  <a:ext uri="{0D108BD9-81ED-4DB2-BD59-A6C34878D82A}">
                    <a16:rowId xmlns:a16="http://schemas.microsoft.com/office/drawing/2014/main" val="528943217"/>
                  </a:ext>
                </a:extLst>
              </a:tr>
              <a:tr h="4694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Position Z</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~0 LU</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~0 * 384878.841... km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0 km</a:t>
                      </a:r>
                    </a:p>
                    <a:p>
                      <a:endParaRPr lang="tr-TR" dirty="0">
                        <a:latin typeface="Helvetica" panose="020B0604020202020204" pitchFamily="34" charset="0"/>
                        <a:ea typeface="Ebrima" panose="02000000000000000000" pitchFamily="2" charset="0"/>
                        <a:cs typeface="Helvetica" panose="020B0604020202020204" pitchFamily="34" charset="0"/>
                      </a:endParaRPr>
                    </a:p>
                  </a:txBody>
                  <a:tcPr/>
                </a:tc>
                <a:extLst>
                  <a:ext uri="{0D108BD9-81ED-4DB2-BD59-A6C34878D82A}">
                    <a16:rowId xmlns:a16="http://schemas.microsoft.com/office/drawing/2014/main" val="804691475"/>
                  </a:ext>
                </a:extLst>
              </a:tr>
              <a:tr h="417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Velocity Vx</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~0 LU/TU</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~0 * 1.023909... km/s</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0 km/s</a:t>
                      </a:r>
                    </a:p>
                  </a:txBody>
                  <a:tcPr/>
                </a:tc>
                <a:extLst>
                  <a:ext uri="{0D108BD9-81ED-4DB2-BD59-A6C34878D82A}">
                    <a16:rowId xmlns:a16="http://schemas.microsoft.com/office/drawing/2014/main" val="3775893598"/>
                  </a:ext>
                </a:extLst>
              </a:tr>
              <a:tr h="4176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Velocity Vy</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0.692 LU/TU</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0.692 * 1.023909... km/s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0.708545 km/s</a:t>
                      </a:r>
                    </a:p>
                  </a:txBody>
                  <a:tcPr/>
                </a:tc>
                <a:extLst>
                  <a:ext uri="{0D108BD9-81ED-4DB2-BD59-A6C34878D82A}">
                    <a16:rowId xmlns:a16="http://schemas.microsoft.com/office/drawing/2014/main" val="2895782200"/>
                  </a:ext>
                </a:extLst>
              </a:tr>
              <a:tr h="4694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Velocity Vz</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a:effectLst/>
                          <a:latin typeface="Helvetica" panose="020B0604020202020204" pitchFamily="34" charset="0"/>
                          <a:ea typeface="Ebrima" panose="02000000000000000000" pitchFamily="2" charset="0"/>
                          <a:cs typeface="Helvetica" panose="020B0604020202020204" pitchFamily="34" charset="0"/>
                        </a:rPr>
                        <a:t>~0 LU/TU</a:t>
                      </a:r>
                      <a:endParaRPr lang="tr-TR" sz="1800" dirty="0">
                        <a:effectLst/>
                        <a:latin typeface="Helvetica" panose="020B0604020202020204" pitchFamily="34" charset="0"/>
                        <a:ea typeface="Ebrima" panose="02000000000000000000" pitchFamily="2" charset="0"/>
                        <a:cs typeface="Helvetica"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~0 * 1.023909... km/s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800" dirty="0">
                          <a:effectLst/>
                          <a:latin typeface="Helvetica" panose="020B0604020202020204" pitchFamily="34" charset="0"/>
                          <a:ea typeface="Ebrima" panose="02000000000000000000" pitchFamily="2" charset="0"/>
                          <a:cs typeface="Helvetica" panose="020B0604020202020204" pitchFamily="34" charset="0"/>
                        </a:rPr>
                        <a:t>0 km/s</a:t>
                      </a:r>
                    </a:p>
                    <a:p>
                      <a:endParaRPr lang="tr-TR" dirty="0">
                        <a:latin typeface="Helvetica" panose="020B0604020202020204" pitchFamily="34" charset="0"/>
                        <a:ea typeface="Ebrima" panose="02000000000000000000" pitchFamily="2" charset="0"/>
                        <a:cs typeface="Helvetica" panose="020B0604020202020204" pitchFamily="34" charset="0"/>
                      </a:endParaRPr>
                    </a:p>
                  </a:txBody>
                  <a:tcPr/>
                </a:tc>
                <a:extLst>
                  <a:ext uri="{0D108BD9-81ED-4DB2-BD59-A6C34878D82A}">
                    <a16:rowId xmlns:a16="http://schemas.microsoft.com/office/drawing/2014/main" val="3248395203"/>
                  </a:ext>
                </a:extLst>
              </a:tr>
            </a:tbl>
          </a:graphicData>
        </a:graphic>
      </p:graphicFrame>
      <p:sp>
        <p:nvSpPr>
          <p:cNvPr id="9" name="Rectangle 1">
            <a:extLst>
              <a:ext uri="{FF2B5EF4-FFF2-40B4-BE49-F238E27FC236}">
                <a16:creationId xmlns:a16="http://schemas.microsoft.com/office/drawing/2014/main" id="{6049D285-5823-46CF-B942-2844C3B627DB}"/>
              </a:ext>
            </a:extLst>
          </p:cNvPr>
          <p:cNvSpPr>
            <a:spLocks noChangeArrowheads="1"/>
          </p:cNvSpPr>
          <p:nvPr/>
        </p:nvSpPr>
        <p:spPr bwMode="auto">
          <a:xfrm>
            <a:off x="8206836" y="6551932"/>
            <a:ext cx="1012192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tr-TR" altLang="tr-TR" sz="800" b="1" dirty="0" err="1">
                <a:latin typeface="Helvetica" panose="020B0604020202020204" pitchFamily="34" charset="0"/>
                <a:cs typeface="Helvetica" panose="020B0604020202020204" pitchFamily="34" charset="0"/>
              </a:rPr>
              <a:t>Ref</a:t>
            </a:r>
            <a:r>
              <a:rPr lang="tr-TR" altLang="tr-TR" sz="800" b="1" dirty="0">
                <a:latin typeface="Helvetica" panose="020B0604020202020204" pitchFamily="34" charset="0"/>
                <a:cs typeface="Helvetica" panose="020B0604020202020204" pitchFamily="34" charset="0"/>
              </a:rPr>
              <a:t>: </a:t>
            </a:r>
            <a:r>
              <a:rPr lang="tr-TR" altLang="tr-TR" sz="800" dirty="0">
                <a:latin typeface="Helvetica" panose="020B0604020202020204" pitchFamily="34" charset="0"/>
                <a:cs typeface="Helvetica" panose="020B0604020202020204" pitchFamily="34" charset="0"/>
              </a:rPr>
              <a:t>https://ssd.jpl.nasa.gov/tools/periodic_orbits.html</a:t>
            </a:r>
            <a:endParaRPr kumimoji="0" lang="tr-TR" altLang="tr-TR" sz="80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graphicFrame>
        <p:nvGraphicFramePr>
          <p:cNvPr id="12" name="Tablo 3">
            <a:extLst>
              <a:ext uri="{FF2B5EF4-FFF2-40B4-BE49-F238E27FC236}">
                <a16:creationId xmlns:a16="http://schemas.microsoft.com/office/drawing/2014/main" id="{CF73CDD4-48AD-493C-88A4-44575EDC2F9E}"/>
              </a:ext>
            </a:extLst>
          </p:cNvPr>
          <p:cNvGraphicFramePr>
            <a:graphicFrameLocks noGrp="1"/>
          </p:cNvGraphicFramePr>
          <p:nvPr>
            <p:extLst>
              <p:ext uri="{D42A27DB-BD31-4B8C-83A1-F6EECF244321}">
                <p14:modId xmlns:p14="http://schemas.microsoft.com/office/powerpoint/2010/main" val="738027769"/>
              </p:ext>
            </p:extLst>
          </p:nvPr>
        </p:nvGraphicFramePr>
        <p:xfrm>
          <a:off x="-292834" y="5379494"/>
          <a:ext cx="10985339" cy="1005840"/>
        </p:xfrm>
        <a:graphic>
          <a:graphicData uri="http://schemas.openxmlformats.org/drawingml/2006/table">
            <a:tbl>
              <a:tblPr firstRow="1" bandRow="1">
                <a:tableStyleId>{5C22544A-7EE6-4342-B048-85BDC9FD1C3A}</a:tableStyleId>
              </a:tblPr>
              <a:tblGrid>
                <a:gridCol w="1701014">
                  <a:extLst>
                    <a:ext uri="{9D8B030D-6E8A-4147-A177-3AD203B41FA5}">
                      <a16:colId xmlns:a16="http://schemas.microsoft.com/office/drawing/2014/main" val="4070238344"/>
                    </a:ext>
                  </a:extLst>
                </a:gridCol>
                <a:gridCol w="1701014">
                  <a:extLst>
                    <a:ext uri="{9D8B030D-6E8A-4147-A177-3AD203B41FA5}">
                      <a16:colId xmlns:a16="http://schemas.microsoft.com/office/drawing/2014/main" val="2970534219"/>
                    </a:ext>
                  </a:extLst>
                </a:gridCol>
                <a:gridCol w="2263198">
                  <a:extLst>
                    <a:ext uri="{9D8B030D-6E8A-4147-A177-3AD203B41FA5}">
                      <a16:colId xmlns:a16="http://schemas.microsoft.com/office/drawing/2014/main" val="358424733"/>
                    </a:ext>
                  </a:extLst>
                </a:gridCol>
                <a:gridCol w="3104975">
                  <a:extLst>
                    <a:ext uri="{9D8B030D-6E8A-4147-A177-3AD203B41FA5}">
                      <a16:colId xmlns:a16="http://schemas.microsoft.com/office/drawing/2014/main" val="1460088885"/>
                    </a:ext>
                  </a:extLst>
                </a:gridCol>
                <a:gridCol w="2215138">
                  <a:extLst>
                    <a:ext uri="{9D8B030D-6E8A-4147-A177-3AD203B41FA5}">
                      <a16:colId xmlns:a16="http://schemas.microsoft.com/office/drawing/2014/main" val="4069485061"/>
                    </a:ext>
                  </a:extLst>
                </a:gridCol>
              </a:tblGrid>
              <a:tr h="262978">
                <a:tc>
                  <a:txBody>
                    <a:bodyPr/>
                    <a:lstStyle/>
                    <a:p>
                      <a:r>
                        <a:rPr lang="tr-TR" dirty="0" err="1"/>
                        <a:t>Eccentricity</a:t>
                      </a:r>
                      <a:endParaRPr lang="tr-TR" dirty="0"/>
                    </a:p>
                  </a:txBody>
                  <a:tcPr anchor="ctr"/>
                </a:tc>
                <a:tc>
                  <a:txBody>
                    <a:bodyPr/>
                    <a:lstStyle/>
                    <a:p>
                      <a:r>
                        <a:rPr lang="tr-TR"/>
                        <a:t>Inclination (degrees)</a:t>
                      </a:r>
                    </a:p>
                  </a:txBody>
                  <a:tcPr anchor="ctr"/>
                </a:tc>
                <a:tc>
                  <a:txBody>
                    <a:bodyPr/>
                    <a:lstStyle/>
                    <a:p>
                      <a:r>
                        <a:rPr lang="tr-TR"/>
                        <a:t>RAAN (degrees)</a:t>
                      </a:r>
                    </a:p>
                  </a:txBody>
                  <a:tcPr anchor="ctr"/>
                </a:tc>
                <a:tc>
                  <a:txBody>
                    <a:bodyPr/>
                    <a:lstStyle/>
                    <a:p>
                      <a:r>
                        <a:rPr lang="tr-TR" dirty="0"/>
                        <a:t>True </a:t>
                      </a:r>
                      <a:r>
                        <a:rPr lang="tr-TR" dirty="0" err="1"/>
                        <a:t>Anomaly</a:t>
                      </a:r>
                      <a:r>
                        <a:rPr lang="tr-TR" dirty="0"/>
                        <a:t> (</a:t>
                      </a:r>
                      <a:r>
                        <a:rPr lang="tr-TR" dirty="0" err="1"/>
                        <a:t>degrees</a:t>
                      </a:r>
                      <a:r>
                        <a:rPr lang="tr-TR" dirty="0"/>
                        <a:t>)</a:t>
                      </a:r>
                    </a:p>
                  </a:txBody>
                  <a:tcPr anchor="ctr"/>
                </a:tc>
                <a:tc>
                  <a:txBody>
                    <a:bodyPr/>
                    <a:lstStyle/>
                    <a:p>
                      <a:r>
                        <a:rPr lang="tr-TR"/>
                        <a:t>Semimajor Axis (km)</a:t>
                      </a:r>
                    </a:p>
                  </a:txBody>
                  <a:tcPr anchor="ctr"/>
                </a:tc>
                <a:extLst>
                  <a:ext uri="{0D108BD9-81ED-4DB2-BD59-A6C34878D82A}">
                    <a16:rowId xmlns:a16="http://schemas.microsoft.com/office/drawing/2014/main" val="3718624106"/>
                  </a:ext>
                </a:extLst>
              </a:tr>
              <a:tr h="262978">
                <a:tc>
                  <a:txBody>
                    <a:bodyPr/>
                    <a:lstStyle/>
                    <a:p>
                      <a:r>
                        <a:rPr lang="tr-TR"/>
                        <a:t>0.0019 - 0.0125</a:t>
                      </a:r>
                    </a:p>
                  </a:txBody>
                  <a:tcPr anchor="ctr"/>
                </a:tc>
                <a:tc>
                  <a:txBody>
                    <a:bodyPr/>
                    <a:lstStyle/>
                    <a:p>
                      <a:r>
                        <a:rPr lang="tr-TR"/>
                        <a:t>174.727</a:t>
                      </a:r>
                    </a:p>
                  </a:txBody>
                  <a:tcPr anchor="ctr"/>
                </a:tc>
                <a:tc>
                  <a:txBody>
                    <a:bodyPr/>
                    <a:lstStyle/>
                    <a:p>
                      <a:r>
                        <a:rPr lang="tr-TR"/>
                        <a:t>223.026</a:t>
                      </a:r>
                    </a:p>
                  </a:txBody>
                  <a:tcPr anchor="ctr"/>
                </a:tc>
                <a:tc>
                  <a:txBody>
                    <a:bodyPr/>
                    <a:lstStyle/>
                    <a:p>
                      <a:r>
                        <a:rPr lang="tr-TR"/>
                        <a:t>0.0 - 359.8</a:t>
                      </a:r>
                    </a:p>
                  </a:txBody>
                  <a:tcPr anchor="ctr"/>
                </a:tc>
                <a:tc>
                  <a:txBody>
                    <a:bodyPr/>
                    <a:lstStyle/>
                    <a:p>
                      <a:r>
                        <a:rPr lang="tr-TR" dirty="0"/>
                        <a:t>10786.68 - 10844.46</a:t>
                      </a:r>
                    </a:p>
                  </a:txBody>
                  <a:tcPr anchor="ctr"/>
                </a:tc>
                <a:extLst>
                  <a:ext uri="{0D108BD9-81ED-4DB2-BD59-A6C34878D82A}">
                    <a16:rowId xmlns:a16="http://schemas.microsoft.com/office/drawing/2014/main" val="807400184"/>
                  </a:ext>
                </a:extLst>
              </a:tr>
            </a:tbl>
          </a:graphicData>
        </a:graphic>
      </p:graphicFrame>
    </p:spTree>
    <p:extLst>
      <p:ext uri="{BB962C8B-B14F-4D97-AF65-F5344CB8AC3E}">
        <p14:creationId xmlns:p14="http://schemas.microsoft.com/office/powerpoint/2010/main" val="1037732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9510296"/>
          </a:xfrm>
          <a:prstGeom prst="rect">
            <a:avLst/>
          </a:prstGeom>
          <a:noFill/>
        </p:spPr>
        <p:txBody>
          <a:bodyPr wrap="square">
            <a:spAutoFit/>
          </a:bodyPr>
          <a:lstStyle/>
          <a:p>
            <a:r>
              <a:rPr lang="en-US" dirty="0"/>
              <a:t>Talking Points: "Let's take a closer look at the Distant Retrograde Orbit, which is central to our project. A DRO is fundamentally a stable, periodic orbit that exists within the Circular Restricted Three-Body Problem. It's called 'Distant' because it's at a very high altitude from the lunar surface, often extending beyond the L1 and L2 Lagrange points. This distance allows it to avoid perturbations from the Moon's irregular gravitational field. It's 'Retrograde' because when observed from a reference frame rotating with the Earth-Moon system, it orbits in the opposite direction of the Moon's orbital motion. The combination of these two properties gives the DRO its greatest advantage: exceptional long-term stability. This means the amount of fuel required to maintain the orbit—station-keeping—is minimal. Because of this feature, it has been strategically used as a 'parking orbit' in pioneering missions like NASA's Artemis-1 and China's </a:t>
            </a:r>
            <a:r>
              <a:rPr lang="en-US" dirty="0" err="1"/>
              <a:t>Chang'e</a:t>
            </a:r>
            <a:r>
              <a:rPr lang="en-US" dirty="0"/>
              <a:t> 5."</a:t>
            </a:r>
            <a:endParaRPr lang="tr-TR" dirty="0"/>
          </a:p>
        </p:txBody>
      </p:sp>
      <p:sp>
        <p:nvSpPr>
          <p:cNvPr id="6" name="Metin kutusu 5">
            <a:extLst>
              <a:ext uri="{FF2B5EF4-FFF2-40B4-BE49-F238E27FC236}">
                <a16:creationId xmlns:a16="http://schemas.microsoft.com/office/drawing/2014/main" id="{0440123A-1D0D-4103-9D25-2C86FAD3BEDC}"/>
              </a:ext>
            </a:extLst>
          </p:cNvPr>
          <p:cNvSpPr txBox="1"/>
          <p:nvPr/>
        </p:nvSpPr>
        <p:spPr>
          <a:xfrm>
            <a:off x="5491269" y="462744"/>
            <a:ext cx="4476097" cy="523220"/>
          </a:xfrm>
          <a:prstGeom prst="rect">
            <a:avLst/>
          </a:prstGeom>
          <a:noFill/>
        </p:spPr>
        <p:txBody>
          <a:bodyPr wrap="none" rtlCol="0">
            <a:spAutoFit/>
          </a:bodyPr>
          <a:lstStyle/>
          <a:p>
            <a:r>
              <a:rPr lang="tr-TR" sz="2800" dirty="0">
                <a:solidFill>
                  <a:schemeClr val="bg1"/>
                </a:solidFill>
                <a:latin typeface="Helvetica" pitchFamily="2" charset="0"/>
              </a:rPr>
              <a:t>3. </a:t>
            </a:r>
            <a:r>
              <a:rPr lang="en-US" sz="2800" dirty="0">
                <a:solidFill>
                  <a:schemeClr val="bg1"/>
                </a:solidFill>
                <a:latin typeface="Helvetica" pitchFamily="2" charset="0"/>
              </a:rPr>
              <a:t>Defining the Target Orbit</a:t>
            </a:r>
            <a:endParaRPr lang="tr-TR" sz="2800" dirty="0">
              <a:solidFill>
                <a:schemeClr val="bg1"/>
              </a:solidFill>
              <a:latin typeface="Helvetica" pitchFamily="2" charset="0"/>
            </a:endParaRPr>
          </a:p>
        </p:txBody>
      </p:sp>
      <p:sp>
        <p:nvSpPr>
          <p:cNvPr id="9" name="Rectangle 1">
            <a:extLst>
              <a:ext uri="{FF2B5EF4-FFF2-40B4-BE49-F238E27FC236}">
                <a16:creationId xmlns:a16="http://schemas.microsoft.com/office/drawing/2014/main" id="{6049D285-5823-46CF-B942-2844C3B627DB}"/>
              </a:ext>
            </a:extLst>
          </p:cNvPr>
          <p:cNvSpPr>
            <a:spLocks noChangeArrowheads="1"/>
          </p:cNvSpPr>
          <p:nvPr/>
        </p:nvSpPr>
        <p:spPr bwMode="auto">
          <a:xfrm>
            <a:off x="5870036" y="6642556"/>
            <a:ext cx="10121922"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tr-TR" altLang="tr-TR" sz="800" b="1" dirty="0" err="1">
                <a:latin typeface="Helvetica" panose="020B0604020202020204" pitchFamily="34" charset="0"/>
                <a:cs typeface="Helvetica" panose="020B0604020202020204" pitchFamily="34" charset="0"/>
              </a:rPr>
              <a:t>Ref</a:t>
            </a:r>
            <a:r>
              <a:rPr lang="tr-TR" altLang="tr-TR" sz="800" dirty="0">
                <a:latin typeface="Helvetica" panose="020B0604020202020204" pitchFamily="34" charset="0"/>
                <a:cs typeface="Helvetica" panose="020B0604020202020204" pitchFamily="34" charset="0"/>
              </a:rPr>
              <a:t>: https://www.nasa.gov/missions/orion-will-go-the-distance-in-retrograde-orbit-during-artemis-i/</a:t>
            </a:r>
            <a:endParaRPr kumimoji="0" lang="tr-TR" altLang="tr-TR" sz="80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sp>
        <p:nvSpPr>
          <p:cNvPr id="4" name="Rectangle 1">
            <a:extLst>
              <a:ext uri="{FF2B5EF4-FFF2-40B4-BE49-F238E27FC236}">
                <a16:creationId xmlns:a16="http://schemas.microsoft.com/office/drawing/2014/main" id="{EB87F062-FB99-49B4-87C5-510893FE3248}"/>
              </a:ext>
            </a:extLst>
          </p:cNvPr>
          <p:cNvSpPr>
            <a:spLocks noChangeArrowheads="1"/>
          </p:cNvSpPr>
          <p:nvPr/>
        </p:nvSpPr>
        <p:spPr bwMode="auto">
          <a:xfrm>
            <a:off x="5491270" y="2857924"/>
            <a:ext cx="5322858"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Arial" panose="020B0604020202020204" pitchFamily="34" charset="0"/>
              </a:rPr>
              <a:t>Definition:</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Stable</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periodic</a:t>
            </a:r>
            <a:r>
              <a:rPr kumimoji="0" lang="tr-TR" altLang="tr-TR" sz="1800" b="0" i="0" u="none" strike="noStrike" cap="none" normalizeH="0" baseline="0" dirty="0">
                <a:ln>
                  <a:noFill/>
                </a:ln>
                <a:solidFill>
                  <a:schemeClr val="tx1"/>
                </a:solidFill>
                <a:effectLst/>
                <a:latin typeface="Arial" panose="020B0604020202020204" pitchFamily="34" charset="0"/>
              </a:rPr>
              <a:t> CR3BP </a:t>
            </a:r>
            <a:r>
              <a:rPr kumimoji="0" lang="tr-TR" altLang="tr-TR" sz="1800" b="0" i="0" u="none" strike="noStrike" cap="none" normalizeH="0" baseline="0" dirty="0" err="1">
                <a:ln>
                  <a:noFill/>
                </a:ln>
                <a:solidFill>
                  <a:schemeClr val="tx1"/>
                </a:solidFill>
                <a:effectLst/>
                <a:latin typeface="Arial" panose="020B0604020202020204" pitchFamily="34" charset="0"/>
              </a:rPr>
              <a:t>orbit</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Geometry</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High </a:t>
            </a:r>
            <a:r>
              <a:rPr kumimoji="0" lang="tr-TR" altLang="tr-TR" sz="1800" b="0" i="0" u="none" strike="noStrike" cap="none" normalizeH="0" baseline="0" dirty="0" err="1">
                <a:ln>
                  <a:noFill/>
                </a:ln>
                <a:solidFill>
                  <a:schemeClr val="tx1"/>
                </a:solidFill>
                <a:effectLst/>
                <a:latin typeface="Arial" panose="020B0604020202020204" pitchFamily="34" charset="0"/>
              </a:rPr>
              <a:t>altitude</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Distant</a:t>
            </a:r>
            <a:r>
              <a:rPr kumimoji="0" lang="tr-TR" altLang="tr-TR" sz="1800" b="0" i="0" u="none" strike="noStrike" cap="none" normalizeH="0" baseline="0" dirty="0">
                <a:ln>
                  <a:noFill/>
                </a:ln>
                <a:solidFill>
                  <a:schemeClr val="tx1"/>
                </a:solidFill>
                <a:effectLst/>
                <a:latin typeface="Arial" panose="020B0604020202020204" pitchFamily="34" charset="0"/>
              </a:rPr>
              <a:t>") &amp; </a:t>
            </a:r>
            <a:r>
              <a:rPr kumimoji="0" lang="tr-TR" altLang="tr-TR" sz="1800" b="0" i="0" u="none" strike="noStrike" cap="none" normalizeH="0" baseline="0" dirty="0" err="1">
                <a:ln>
                  <a:noFill/>
                </a:ln>
                <a:solidFill>
                  <a:schemeClr val="tx1"/>
                </a:solidFill>
                <a:effectLst/>
                <a:latin typeface="Arial" panose="020B0604020202020204" pitchFamily="34" charset="0"/>
              </a:rPr>
              <a:t>opposite</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motion</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Retrograde</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Key</a:t>
            </a:r>
            <a:r>
              <a:rPr kumimoji="0" lang="tr-TR" altLang="tr-TR" sz="1800" b="1" i="0" u="none" strike="noStrike" cap="none" normalizeH="0" baseline="0" dirty="0">
                <a:ln>
                  <a:noFill/>
                </a:ln>
                <a:solidFill>
                  <a:schemeClr val="tx1"/>
                </a:solidFill>
                <a:effectLst/>
                <a:latin typeface="Arial" panose="020B0604020202020204" pitchFamily="34" charset="0"/>
              </a:rPr>
              <a:t> </a:t>
            </a:r>
            <a:r>
              <a:rPr kumimoji="0" lang="tr-TR" altLang="tr-TR" sz="1800" b="1" i="0" u="none" strike="noStrike" cap="none" normalizeH="0" baseline="0" dirty="0" err="1">
                <a:ln>
                  <a:noFill/>
                </a:ln>
                <a:solidFill>
                  <a:schemeClr val="tx1"/>
                </a:solidFill>
                <a:effectLst/>
                <a:latin typeface="Arial" panose="020B0604020202020204" pitchFamily="34" charset="0"/>
              </a:rPr>
              <a:t>Feature</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High </a:t>
            </a:r>
            <a:r>
              <a:rPr kumimoji="0" lang="tr-TR" altLang="tr-TR" sz="1800" b="0" i="0" u="none" strike="noStrike" cap="none" normalizeH="0" baseline="0" dirty="0" err="1">
                <a:ln>
                  <a:noFill/>
                </a:ln>
                <a:solidFill>
                  <a:schemeClr val="tx1"/>
                </a:solidFill>
                <a:effectLst/>
                <a:latin typeface="Arial" panose="020B0604020202020204" pitchFamily="34" charset="0"/>
              </a:rPr>
              <a:t>stability</a:t>
            </a:r>
            <a:r>
              <a:rPr kumimoji="0" lang="tr-TR" altLang="tr-TR" sz="1800" b="0" i="0" u="none" strike="noStrike" cap="none" normalizeH="0" baseline="0" dirty="0">
                <a:ln>
                  <a:noFill/>
                </a:ln>
                <a:solidFill>
                  <a:schemeClr val="tx1"/>
                </a:solidFill>
                <a:effectLst/>
                <a:latin typeface="Arial" panose="020B0604020202020204" pitchFamily="34" charset="0"/>
              </a:rPr>
              <a:t> → Minimal </a:t>
            </a:r>
            <a:r>
              <a:rPr kumimoji="0" lang="tr-TR" altLang="tr-TR" sz="1800" b="0" i="0" u="none" strike="noStrike" cap="none" normalizeH="0" baseline="0" dirty="0" err="1">
                <a:ln>
                  <a:noFill/>
                </a:ln>
                <a:solidFill>
                  <a:schemeClr val="tx1"/>
                </a:solidFill>
                <a:effectLst/>
                <a:latin typeface="Arial" panose="020B0604020202020204" pitchFamily="34" charset="0"/>
              </a:rPr>
              <a:t>station-keeping</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fuel</a:t>
            </a:r>
            <a:r>
              <a:rPr kumimoji="0" lang="tr-TR" altLang="tr-TR"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Arial" panose="020B0604020202020204" pitchFamily="34" charset="0"/>
              </a:rPr>
              <a:t>Heritage</a:t>
            </a:r>
            <a:r>
              <a:rPr kumimoji="0" lang="tr-TR" altLang="tr-TR" sz="1800" b="1" i="0" u="none" strike="noStrike" cap="none" normalizeH="0" baseline="0" dirty="0">
                <a:ln>
                  <a:noFill/>
                </a:ln>
                <a:solidFill>
                  <a:schemeClr val="tx1"/>
                </a:solidFill>
                <a:effectLst/>
                <a:latin typeface="Arial" panose="020B0604020202020204" pitchFamily="34" charset="0"/>
              </a:rPr>
              <a:t>:</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Flown</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by</a:t>
            </a:r>
            <a:r>
              <a:rPr kumimoji="0" lang="tr-TR" altLang="tr-TR" sz="1800" b="0" i="0" u="none" strike="noStrike" cap="none" normalizeH="0" baseline="0" dirty="0">
                <a:ln>
                  <a:noFill/>
                </a:ln>
                <a:solidFill>
                  <a:schemeClr val="tx1"/>
                </a:solidFill>
                <a:effectLst/>
                <a:latin typeface="Arial" panose="020B0604020202020204" pitchFamily="34" charset="0"/>
              </a:rPr>
              <a:t> Artemis I &amp; </a:t>
            </a:r>
            <a:r>
              <a:rPr kumimoji="0" lang="tr-TR" altLang="tr-TR" sz="1800" b="0" i="0" u="none" strike="noStrike" cap="none" normalizeH="0" baseline="0" dirty="0" err="1">
                <a:ln>
                  <a:noFill/>
                </a:ln>
                <a:solidFill>
                  <a:schemeClr val="tx1"/>
                </a:solidFill>
                <a:effectLst/>
                <a:latin typeface="Arial" panose="020B0604020202020204" pitchFamily="34" charset="0"/>
              </a:rPr>
              <a:t>Chang'e</a:t>
            </a:r>
            <a:r>
              <a:rPr kumimoji="0" lang="tr-TR" altLang="tr-TR" sz="1800" b="0" i="0" u="none" strike="noStrike" cap="none" normalizeH="0" baseline="0" dirty="0">
                <a:ln>
                  <a:noFill/>
                </a:ln>
                <a:solidFill>
                  <a:schemeClr val="tx1"/>
                </a:solidFill>
                <a:effectLst/>
                <a:latin typeface="Arial" panose="020B0604020202020204" pitchFamily="34" charset="0"/>
              </a:rPr>
              <a:t> 5.</a:t>
            </a:r>
          </a:p>
        </p:txBody>
      </p:sp>
      <p:pic>
        <p:nvPicPr>
          <p:cNvPr id="7171" name="Picture 3" descr="Orion Will Go the Distance in Retrograde Orbit During Artemis I - NASA">
            <a:extLst>
              <a:ext uri="{FF2B5EF4-FFF2-40B4-BE49-F238E27FC236}">
                <a16:creationId xmlns:a16="http://schemas.microsoft.com/office/drawing/2014/main" id="{ECF6C324-B5E8-4EC3-9D85-3A889FCCE1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130" y="2509971"/>
            <a:ext cx="5833296" cy="3281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347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11172289"/>
          </a:xfrm>
          <a:prstGeom prst="rect">
            <a:avLst/>
          </a:prstGeom>
          <a:noFill/>
        </p:spPr>
        <p:txBody>
          <a:bodyPr wrap="square">
            <a:spAutoFit/>
          </a:bodyPr>
          <a:lstStyle/>
          <a:p>
            <a:r>
              <a:rPr lang="en-US" dirty="0"/>
              <a:t>Talking Points: "To design the trajectory and precisely place it on target, we utilized the powerful targeting tools offered by Astrogator. We considered three main tools. Our primary tool was the Differential Corrector. This is a multi-variable root-finding algorithm based on the Newton-Raphson method. It iteratively solves the question, 'What should my maneuver components be to reach a specific orbital element or position?' by calculating a Jacobian (or sensitivity) matrix. The second option, SNOPT, is a more advanced Nonlinear Optimizer. This tool solves optimization problems like, 'How do I minimize my total fuel consumption while still reaching the target?' using algorithms like Sequential Quadratic Programming (SQP). Our third tool is the Scripting Tool. This is used to provide a good 'initial guess' or to automate complex parameters like B-Plane targeting, especially when the </a:t>
            </a:r>
            <a:r>
              <a:rPr lang="en-US" dirty="0" err="1"/>
              <a:t>targeter</a:t>
            </a:r>
            <a:r>
              <a:rPr lang="en-US" dirty="0"/>
              <a:t> has difficulty converging. In our work, we primarily used the Differential Corrector to precisely target the state vector of a specific DRO and simplified the problem to resolve convergence issues we encountered."</a:t>
            </a:r>
            <a:endParaRPr lang="tr-TR" dirty="0"/>
          </a:p>
        </p:txBody>
      </p:sp>
      <p:sp>
        <p:nvSpPr>
          <p:cNvPr id="6" name="Metin kutusu 5">
            <a:extLst>
              <a:ext uri="{FF2B5EF4-FFF2-40B4-BE49-F238E27FC236}">
                <a16:creationId xmlns:a16="http://schemas.microsoft.com/office/drawing/2014/main" id="{0440123A-1D0D-4103-9D25-2C86FAD3BEDC}"/>
              </a:ext>
            </a:extLst>
          </p:cNvPr>
          <p:cNvSpPr txBox="1"/>
          <p:nvPr/>
        </p:nvSpPr>
        <p:spPr>
          <a:xfrm>
            <a:off x="5491269" y="462744"/>
            <a:ext cx="4316823" cy="523220"/>
          </a:xfrm>
          <a:prstGeom prst="rect">
            <a:avLst/>
          </a:prstGeom>
          <a:noFill/>
        </p:spPr>
        <p:txBody>
          <a:bodyPr wrap="none" rtlCol="0">
            <a:spAutoFit/>
          </a:bodyPr>
          <a:lstStyle/>
          <a:p>
            <a:r>
              <a:rPr lang="tr-TR" sz="2800" dirty="0">
                <a:solidFill>
                  <a:schemeClr val="bg1"/>
                </a:solidFill>
                <a:latin typeface="Helvetica" pitchFamily="2" charset="0"/>
              </a:rPr>
              <a:t>3. </a:t>
            </a:r>
            <a:r>
              <a:rPr lang="en-US" sz="2800" dirty="0">
                <a:solidFill>
                  <a:schemeClr val="bg1"/>
                </a:solidFill>
                <a:latin typeface="Helvetica" pitchFamily="2" charset="0"/>
              </a:rPr>
              <a:t>Trajectory Design Tools</a:t>
            </a:r>
            <a:endParaRPr lang="tr-TR" sz="2800" dirty="0">
              <a:solidFill>
                <a:schemeClr val="bg1"/>
              </a:solidFill>
              <a:latin typeface="Helvetica" pitchFamily="2" charset="0"/>
            </a:endParaRPr>
          </a:p>
        </p:txBody>
      </p:sp>
      <p:sp>
        <p:nvSpPr>
          <p:cNvPr id="3" name="Rectangle 1">
            <a:extLst>
              <a:ext uri="{FF2B5EF4-FFF2-40B4-BE49-F238E27FC236}">
                <a16:creationId xmlns:a16="http://schemas.microsoft.com/office/drawing/2014/main" id="{4BC7BA87-B658-4689-9A4B-F6179B9C9100}"/>
              </a:ext>
            </a:extLst>
          </p:cNvPr>
          <p:cNvSpPr>
            <a:spLocks noChangeArrowheads="1"/>
          </p:cNvSpPr>
          <p:nvPr/>
        </p:nvSpPr>
        <p:spPr bwMode="auto">
          <a:xfrm>
            <a:off x="5733535" y="3005435"/>
            <a:ext cx="4685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Differential</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Corrector</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Precision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Targeting</a:t>
            </a: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SNOPT:</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Cost</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Minimization</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Scripting </a:t>
            </a: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Tool</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Complex</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Calculations</a:t>
            </a: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pic>
        <p:nvPicPr>
          <p:cNvPr id="4" name="Resim 3">
            <a:extLst>
              <a:ext uri="{FF2B5EF4-FFF2-40B4-BE49-F238E27FC236}">
                <a16:creationId xmlns:a16="http://schemas.microsoft.com/office/drawing/2014/main" id="{D36FAA77-DBEB-44B4-8EB6-E5B12AD971D5}"/>
              </a:ext>
            </a:extLst>
          </p:cNvPr>
          <p:cNvPicPr>
            <a:picLocks noChangeAspect="1"/>
          </p:cNvPicPr>
          <p:nvPr/>
        </p:nvPicPr>
        <p:blipFill>
          <a:blip r:embed="rId2"/>
          <a:stretch>
            <a:fillRect/>
          </a:stretch>
        </p:blipFill>
        <p:spPr>
          <a:xfrm>
            <a:off x="-499406" y="1296174"/>
            <a:ext cx="5381625" cy="4895850"/>
          </a:xfrm>
          <a:prstGeom prst="rect">
            <a:avLst/>
          </a:prstGeom>
          <a:ln>
            <a:solidFill>
              <a:schemeClr val="accent1"/>
            </a:solidFill>
          </a:ln>
        </p:spPr>
      </p:pic>
    </p:spTree>
    <p:extLst>
      <p:ext uri="{BB962C8B-B14F-4D97-AF65-F5344CB8AC3E}">
        <p14:creationId xmlns:p14="http://schemas.microsoft.com/office/powerpoint/2010/main" val="3836781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5909310"/>
          </a:xfrm>
          <a:prstGeom prst="rect">
            <a:avLst/>
          </a:prstGeom>
          <a:noFill/>
        </p:spPr>
        <p:txBody>
          <a:bodyPr wrap="square">
            <a:spAutoFit/>
          </a:bodyPr>
          <a:lstStyle/>
          <a:p>
            <a:r>
              <a:rPr lang="en-US" dirty="0"/>
              <a:t>Talking Points: "Here is the general overview of our simulation. In phase one, the launch vehicle places our spacecraft into a 300 km circular orbit, after which we conduct the TLI burn requiring about 3100 m/s. In phase two, upon approaching the Moon, we burn our engines at the perigee of our hyperbolic path to enter a highly elliptical orbit, with an apogee matching the DRO's altitude. In phase three, we perform another burn at this apogee to circularize our path, making it very similar to the target DRO. Finally, in phase four, we execute a small, precise maneuver of just 7 m/s to lock into the final DRO."</a:t>
            </a:r>
            <a:endParaRPr lang="tr-TR" dirty="0"/>
          </a:p>
        </p:txBody>
      </p:sp>
      <p:sp>
        <p:nvSpPr>
          <p:cNvPr id="6" name="Metin kutusu 5">
            <a:extLst>
              <a:ext uri="{FF2B5EF4-FFF2-40B4-BE49-F238E27FC236}">
                <a16:creationId xmlns:a16="http://schemas.microsoft.com/office/drawing/2014/main" id="{0440123A-1D0D-4103-9D25-2C86FAD3BEDC}"/>
              </a:ext>
            </a:extLst>
          </p:cNvPr>
          <p:cNvSpPr txBox="1"/>
          <p:nvPr/>
        </p:nvSpPr>
        <p:spPr>
          <a:xfrm>
            <a:off x="5491269" y="462744"/>
            <a:ext cx="4201215" cy="523220"/>
          </a:xfrm>
          <a:prstGeom prst="rect">
            <a:avLst/>
          </a:prstGeom>
          <a:noFill/>
        </p:spPr>
        <p:txBody>
          <a:bodyPr wrap="none" rtlCol="0">
            <a:spAutoFit/>
          </a:bodyPr>
          <a:lstStyle/>
          <a:p>
            <a:r>
              <a:rPr lang="tr-TR" sz="2800" dirty="0">
                <a:solidFill>
                  <a:schemeClr val="bg1"/>
                </a:solidFill>
                <a:latin typeface="Helvetica" pitchFamily="2" charset="0"/>
              </a:rPr>
              <a:t>3. </a:t>
            </a:r>
            <a:r>
              <a:rPr lang="en-US" sz="2800" dirty="0">
                <a:solidFill>
                  <a:schemeClr val="bg1"/>
                </a:solidFill>
                <a:latin typeface="Helvetica" pitchFamily="2" charset="0"/>
              </a:rPr>
              <a:t>Earth-to-DRO Transfer</a:t>
            </a:r>
            <a:endParaRPr lang="tr-TR" sz="2800" dirty="0">
              <a:solidFill>
                <a:schemeClr val="bg1"/>
              </a:solidFill>
              <a:latin typeface="Helvetica" pitchFamily="2" charset="0"/>
            </a:endParaRPr>
          </a:p>
        </p:txBody>
      </p:sp>
      <p:sp>
        <p:nvSpPr>
          <p:cNvPr id="2" name="Rectangle 1">
            <a:extLst>
              <a:ext uri="{FF2B5EF4-FFF2-40B4-BE49-F238E27FC236}">
                <a16:creationId xmlns:a16="http://schemas.microsoft.com/office/drawing/2014/main" id="{6DDA6973-945B-41F9-A436-91AAADBEE6C8}"/>
              </a:ext>
            </a:extLst>
          </p:cNvPr>
          <p:cNvSpPr>
            <a:spLocks noChangeArrowheads="1"/>
          </p:cNvSpPr>
          <p:nvPr/>
        </p:nvSpPr>
        <p:spPr bwMode="auto">
          <a:xfrm>
            <a:off x="3002691" y="2765506"/>
            <a:ext cx="635789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Phase</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1:</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Earth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to</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Moon | </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ΔV: ~3107 m/s</a:t>
            </a: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Phase</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2:</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Lunar</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Capture</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&amp;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Highly</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Elliptical</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 </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ΔV: ~310 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Phase</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3:</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Orbit</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Shaping</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Circularization</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 </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ΔV: ~311 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Phase</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4:</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Final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Insertion</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into</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DRO | </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ΔV: ~7.14 m/s</a:t>
            </a: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p:txBody>
      </p:sp>
      <p:pic>
        <p:nvPicPr>
          <p:cNvPr id="5" name="Resim 4">
            <a:extLst>
              <a:ext uri="{FF2B5EF4-FFF2-40B4-BE49-F238E27FC236}">
                <a16:creationId xmlns:a16="http://schemas.microsoft.com/office/drawing/2014/main" id="{CCAD49AA-4D19-4BDB-8B08-4CF8F4560208}"/>
              </a:ext>
            </a:extLst>
          </p:cNvPr>
          <p:cNvPicPr>
            <a:picLocks noChangeAspect="1"/>
          </p:cNvPicPr>
          <p:nvPr/>
        </p:nvPicPr>
        <p:blipFill>
          <a:blip r:embed="rId2"/>
          <a:stretch>
            <a:fillRect/>
          </a:stretch>
        </p:blipFill>
        <p:spPr>
          <a:xfrm>
            <a:off x="-398763" y="1381383"/>
            <a:ext cx="2271172" cy="5142985"/>
          </a:xfrm>
          <a:prstGeom prst="rect">
            <a:avLst/>
          </a:prstGeom>
        </p:spPr>
      </p:pic>
    </p:spTree>
    <p:extLst>
      <p:ext uri="{BB962C8B-B14F-4D97-AF65-F5344CB8AC3E}">
        <p14:creationId xmlns:p14="http://schemas.microsoft.com/office/powerpoint/2010/main" val="1415352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5909310"/>
          </a:xfrm>
          <a:prstGeom prst="rect">
            <a:avLst/>
          </a:prstGeom>
          <a:noFill/>
        </p:spPr>
        <p:txBody>
          <a:bodyPr wrap="square">
            <a:spAutoFit/>
          </a:bodyPr>
          <a:lstStyle/>
          <a:p>
            <a:r>
              <a:rPr lang="en-US" dirty="0"/>
              <a:t>Talking Points: "To manage the complex first phase of the transfer, we used Astrogator's Scripting Tool. This is the heart of our Earth-to-Moon transfer. In the 'Parameters' section on the right, we input our goals like launch date </a:t>
            </a:r>
            <a:r>
              <a:rPr lang="tr-TR" dirty="0"/>
              <a:t>,t</a:t>
            </a:r>
            <a:r>
              <a:rPr lang="en-US" dirty="0" err="1"/>
              <a:t>ime</a:t>
            </a:r>
            <a:r>
              <a:rPr lang="en-US" dirty="0"/>
              <a:t> of flight, lunar altitude and lunar inclination. The JScript code in the middle then automatically calculates the complex B-Plane targeting parameters needed by the Differential Corrector. These are then passed to the simulation objects on the left. This automation allowed us to run trade studies, like changing the flight duration, with incredible speed and efficiency."</a:t>
            </a:r>
            <a:endParaRPr lang="tr-TR" dirty="0"/>
          </a:p>
        </p:txBody>
      </p:sp>
      <p:sp>
        <p:nvSpPr>
          <p:cNvPr id="6" name="Metin kutusu 5">
            <a:extLst>
              <a:ext uri="{FF2B5EF4-FFF2-40B4-BE49-F238E27FC236}">
                <a16:creationId xmlns:a16="http://schemas.microsoft.com/office/drawing/2014/main" id="{0440123A-1D0D-4103-9D25-2C86FAD3BEDC}"/>
              </a:ext>
            </a:extLst>
          </p:cNvPr>
          <p:cNvSpPr txBox="1"/>
          <p:nvPr/>
        </p:nvSpPr>
        <p:spPr>
          <a:xfrm>
            <a:off x="5491269" y="462744"/>
            <a:ext cx="4501553" cy="523220"/>
          </a:xfrm>
          <a:prstGeom prst="rect">
            <a:avLst/>
          </a:prstGeom>
          <a:noFill/>
        </p:spPr>
        <p:txBody>
          <a:bodyPr wrap="none" rtlCol="0">
            <a:spAutoFit/>
          </a:bodyPr>
          <a:lstStyle/>
          <a:p>
            <a:r>
              <a:rPr lang="tr-TR" sz="2800" dirty="0">
                <a:solidFill>
                  <a:schemeClr val="bg1"/>
                </a:solidFill>
                <a:latin typeface="Helvetica" pitchFamily="2" charset="0"/>
              </a:rPr>
              <a:t>3. </a:t>
            </a:r>
            <a:r>
              <a:rPr lang="tr-TR" sz="2800" dirty="0" err="1">
                <a:solidFill>
                  <a:schemeClr val="bg1"/>
                </a:solidFill>
                <a:latin typeface="Helvetica" pitchFamily="2" charset="0"/>
              </a:rPr>
              <a:t>Phase</a:t>
            </a:r>
            <a:r>
              <a:rPr lang="tr-TR" sz="2800" dirty="0">
                <a:solidFill>
                  <a:schemeClr val="bg1"/>
                </a:solidFill>
                <a:latin typeface="Helvetica" pitchFamily="2" charset="0"/>
              </a:rPr>
              <a:t> 1: </a:t>
            </a:r>
            <a:r>
              <a:rPr lang="en-US" sz="2800" dirty="0">
                <a:solidFill>
                  <a:schemeClr val="bg1"/>
                </a:solidFill>
                <a:latin typeface="Helvetica" pitchFamily="2" charset="0"/>
              </a:rPr>
              <a:t>Earth-to-</a:t>
            </a:r>
            <a:r>
              <a:rPr lang="tr-TR" sz="2800" dirty="0">
                <a:solidFill>
                  <a:schemeClr val="bg1"/>
                </a:solidFill>
                <a:latin typeface="Helvetica" pitchFamily="2" charset="0"/>
              </a:rPr>
              <a:t>Moon</a:t>
            </a:r>
            <a:r>
              <a:rPr lang="en-US" sz="2800" dirty="0">
                <a:solidFill>
                  <a:schemeClr val="bg1"/>
                </a:solidFill>
                <a:latin typeface="Helvetica" pitchFamily="2" charset="0"/>
              </a:rPr>
              <a:t> </a:t>
            </a:r>
            <a:endParaRPr lang="tr-TR" sz="2800" dirty="0">
              <a:solidFill>
                <a:schemeClr val="bg1"/>
              </a:solidFill>
              <a:latin typeface="Helvetica" pitchFamily="2" charset="0"/>
            </a:endParaRPr>
          </a:p>
        </p:txBody>
      </p:sp>
      <p:pic>
        <p:nvPicPr>
          <p:cNvPr id="13" name="Resim 12">
            <a:extLst>
              <a:ext uri="{FF2B5EF4-FFF2-40B4-BE49-F238E27FC236}">
                <a16:creationId xmlns:a16="http://schemas.microsoft.com/office/drawing/2014/main" id="{F1D716B9-44ED-4D09-869A-9171B9928C7F}"/>
              </a:ext>
            </a:extLst>
          </p:cNvPr>
          <p:cNvPicPr>
            <a:picLocks noChangeAspect="1"/>
          </p:cNvPicPr>
          <p:nvPr/>
        </p:nvPicPr>
        <p:blipFill>
          <a:blip r:embed="rId2"/>
          <a:stretch>
            <a:fillRect/>
          </a:stretch>
        </p:blipFill>
        <p:spPr>
          <a:xfrm>
            <a:off x="75303" y="1523987"/>
            <a:ext cx="8993393" cy="4642910"/>
          </a:xfrm>
          <a:prstGeom prst="rect">
            <a:avLst/>
          </a:prstGeom>
        </p:spPr>
      </p:pic>
    </p:spTree>
    <p:extLst>
      <p:ext uri="{BB962C8B-B14F-4D97-AF65-F5344CB8AC3E}">
        <p14:creationId xmlns:p14="http://schemas.microsoft.com/office/powerpoint/2010/main" val="1401418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5078313"/>
          </a:xfrm>
          <a:prstGeom prst="rect">
            <a:avLst/>
          </a:prstGeom>
          <a:noFill/>
        </p:spPr>
        <p:txBody>
          <a:bodyPr wrap="square">
            <a:spAutoFit/>
          </a:bodyPr>
          <a:lstStyle/>
          <a:p>
            <a:r>
              <a:rPr lang="en-US" dirty="0"/>
              <a:t>Talking Points: "In phase two, upon arrival at the Moon, we encountered convergence difficulties when trying to target the final DRO directly. As an engineering solution, we broke the problem down. Instead of a single complex maneuver, we first targeted an intermediate, highly elliptical orbit. As you can see in the Differential Corrector settings, we targeted an eccentricity of 0.707. This required a burn of approximately 310 m/s, which successfully placed us into a stable staging orbit, preparing us for the next step."</a:t>
            </a:r>
            <a:endParaRPr lang="tr-TR" dirty="0"/>
          </a:p>
        </p:txBody>
      </p:sp>
      <p:sp>
        <p:nvSpPr>
          <p:cNvPr id="6" name="Metin kutusu 5">
            <a:extLst>
              <a:ext uri="{FF2B5EF4-FFF2-40B4-BE49-F238E27FC236}">
                <a16:creationId xmlns:a16="http://schemas.microsoft.com/office/drawing/2014/main" id="{0440123A-1D0D-4103-9D25-2C86FAD3BEDC}"/>
              </a:ext>
            </a:extLst>
          </p:cNvPr>
          <p:cNvSpPr txBox="1"/>
          <p:nvPr/>
        </p:nvSpPr>
        <p:spPr>
          <a:xfrm>
            <a:off x="5238975" y="462744"/>
            <a:ext cx="6792868" cy="523220"/>
          </a:xfrm>
          <a:prstGeom prst="rect">
            <a:avLst/>
          </a:prstGeom>
          <a:noFill/>
        </p:spPr>
        <p:txBody>
          <a:bodyPr wrap="square" rtlCol="0">
            <a:spAutoFit/>
          </a:bodyPr>
          <a:lstStyle/>
          <a:p>
            <a:r>
              <a:rPr lang="tr-TR" sz="2700" dirty="0">
                <a:solidFill>
                  <a:schemeClr val="bg1"/>
                </a:solidFill>
                <a:latin typeface="Helvetica" pitchFamily="2" charset="0"/>
              </a:rPr>
              <a:t>3. </a:t>
            </a:r>
            <a:r>
              <a:rPr lang="en-US" sz="2700" dirty="0">
                <a:solidFill>
                  <a:schemeClr val="bg1"/>
                </a:solidFill>
                <a:latin typeface="Helvetica" pitchFamily="2" charset="0"/>
              </a:rPr>
              <a:t>Phase 2:</a:t>
            </a:r>
            <a:r>
              <a:rPr lang="tr-TR" sz="2700" dirty="0">
                <a:solidFill>
                  <a:schemeClr val="bg1"/>
                </a:solidFill>
                <a:latin typeface="Helvetica" pitchFamily="2" charset="0"/>
              </a:rPr>
              <a:t> </a:t>
            </a:r>
            <a:r>
              <a:rPr lang="tr-TR" sz="2700" dirty="0" err="1">
                <a:solidFill>
                  <a:schemeClr val="bg1"/>
                </a:solidFill>
                <a:latin typeface="Helvetica" pitchFamily="2" charset="0"/>
              </a:rPr>
              <a:t>Capture</a:t>
            </a:r>
            <a:r>
              <a:rPr lang="tr-TR" sz="2700" dirty="0">
                <a:solidFill>
                  <a:schemeClr val="bg1"/>
                </a:solidFill>
                <a:latin typeface="Helvetica" pitchFamily="2" charset="0"/>
              </a:rPr>
              <a:t> - </a:t>
            </a:r>
            <a:r>
              <a:rPr lang="tr-TR" sz="2700" dirty="0" err="1">
                <a:solidFill>
                  <a:schemeClr val="bg1"/>
                </a:solidFill>
                <a:latin typeface="Helvetica" pitchFamily="2" charset="0"/>
              </a:rPr>
              <a:t>Elliptical</a:t>
            </a:r>
            <a:r>
              <a:rPr lang="tr-TR" sz="2700" dirty="0">
                <a:solidFill>
                  <a:schemeClr val="bg1"/>
                </a:solidFill>
                <a:latin typeface="Helvetica" pitchFamily="2" charset="0"/>
              </a:rPr>
              <a:t> </a:t>
            </a:r>
            <a:r>
              <a:rPr lang="tr-TR" sz="2700" dirty="0" err="1">
                <a:solidFill>
                  <a:schemeClr val="bg1"/>
                </a:solidFill>
                <a:latin typeface="Helvetica" pitchFamily="2" charset="0"/>
              </a:rPr>
              <a:t>Orbit</a:t>
            </a:r>
            <a:endParaRPr lang="tr-TR" sz="2700" dirty="0">
              <a:solidFill>
                <a:schemeClr val="bg1"/>
              </a:solidFill>
              <a:latin typeface="Helvetica" pitchFamily="2" charset="0"/>
            </a:endParaRPr>
          </a:p>
        </p:txBody>
      </p:sp>
      <p:pic>
        <p:nvPicPr>
          <p:cNvPr id="3" name="Resim 2">
            <a:extLst>
              <a:ext uri="{FF2B5EF4-FFF2-40B4-BE49-F238E27FC236}">
                <a16:creationId xmlns:a16="http://schemas.microsoft.com/office/drawing/2014/main" id="{A82420F6-49A9-4156-AF1D-013F57FC3A96}"/>
              </a:ext>
            </a:extLst>
          </p:cNvPr>
          <p:cNvPicPr>
            <a:picLocks noChangeAspect="1"/>
          </p:cNvPicPr>
          <p:nvPr/>
        </p:nvPicPr>
        <p:blipFill>
          <a:blip r:embed="rId2"/>
          <a:stretch>
            <a:fillRect/>
          </a:stretch>
        </p:blipFill>
        <p:spPr>
          <a:xfrm>
            <a:off x="666975" y="1232472"/>
            <a:ext cx="9144000" cy="5339729"/>
          </a:xfrm>
          <a:prstGeom prst="rect">
            <a:avLst/>
          </a:prstGeom>
        </p:spPr>
      </p:pic>
    </p:spTree>
    <p:extLst>
      <p:ext uri="{BB962C8B-B14F-4D97-AF65-F5344CB8AC3E}">
        <p14:creationId xmlns:p14="http://schemas.microsoft.com/office/powerpoint/2010/main" val="4274194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5909310"/>
          </a:xfrm>
          <a:prstGeom prst="rect">
            <a:avLst/>
          </a:prstGeom>
          <a:noFill/>
        </p:spPr>
        <p:txBody>
          <a:bodyPr wrap="square">
            <a:spAutoFit/>
          </a:bodyPr>
          <a:lstStyle/>
          <a:p>
            <a:r>
              <a:rPr lang="en-US" dirty="0"/>
              <a:t>Talking Points: "In the final two phases, we performed the last maneuvers. First, in phase three, we targeted an eccentricity of zero to circularize our staging orbit, which you can see in the results panel. This cost about 311 m/s. Then, in the same targeting profile, we allowed the 'trip time' to vary, enabling the corrector to find the exact point to perform the final insertion burn. This last burn precisely matched our position and velocity to the target DRO's state vector, costing only an additional 7.14 m/s. This staged approach was key to solving the complex targeting problem."</a:t>
            </a:r>
            <a:endParaRPr lang="tr-TR" dirty="0"/>
          </a:p>
        </p:txBody>
      </p:sp>
      <p:sp>
        <p:nvSpPr>
          <p:cNvPr id="6" name="Metin kutusu 5">
            <a:extLst>
              <a:ext uri="{FF2B5EF4-FFF2-40B4-BE49-F238E27FC236}">
                <a16:creationId xmlns:a16="http://schemas.microsoft.com/office/drawing/2014/main" id="{0440123A-1D0D-4103-9D25-2C86FAD3BEDC}"/>
              </a:ext>
            </a:extLst>
          </p:cNvPr>
          <p:cNvSpPr txBox="1"/>
          <p:nvPr/>
        </p:nvSpPr>
        <p:spPr>
          <a:xfrm>
            <a:off x="5099126" y="462744"/>
            <a:ext cx="6792868" cy="523220"/>
          </a:xfrm>
          <a:prstGeom prst="rect">
            <a:avLst/>
          </a:prstGeom>
          <a:noFill/>
        </p:spPr>
        <p:txBody>
          <a:bodyPr wrap="square" rtlCol="0">
            <a:spAutoFit/>
          </a:bodyPr>
          <a:lstStyle/>
          <a:p>
            <a:r>
              <a:rPr lang="tr-TR" sz="2800" dirty="0">
                <a:solidFill>
                  <a:schemeClr val="bg1"/>
                </a:solidFill>
                <a:latin typeface="Helvetica" pitchFamily="2" charset="0"/>
              </a:rPr>
              <a:t>3. </a:t>
            </a:r>
            <a:r>
              <a:rPr lang="en-US" sz="2800" dirty="0">
                <a:solidFill>
                  <a:schemeClr val="bg1"/>
                </a:solidFill>
                <a:latin typeface="Helvetica" pitchFamily="2" charset="0"/>
              </a:rPr>
              <a:t>Phase </a:t>
            </a:r>
            <a:r>
              <a:rPr lang="tr-TR" sz="2800" dirty="0">
                <a:solidFill>
                  <a:schemeClr val="bg1"/>
                </a:solidFill>
                <a:latin typeface="Helvetica" pitchFamily="2" charset="0"/>
              </a:rPr>
              <a:t>3,4</a:t>
            </a:r>
            <a:r>
              <a:rPr lang="en-US" sz="2800" dirty="0">
                <a:solidFill>
                  <a:schemeClr val="bg1"/>
                </a:solidFill>
                <a:latin typeface="Helvetica" pitchFamily="2" charset="0"/>
              </a:rPr>
              <a:t>:</a:t>
            </a:r>
            <a:r>
              <a:rPr lang="tr-TR" sz="2800" dirty="0">
                <a:solidFill>
                  <a:schemeClr val="bg1"/>
                </a:solidFill>
                <a:latin typeface="Helvetica" pitchFamily="2" charset="0"/>
              </a:rPr>
              <a:t> </a:t>
            </a:r>
            <a:r>
              <a:rPr lang="tr-TR" sz="2800" dirty="0" err="1">
                <a:solidFill>
                  <a:schemeClr val="bg1"/>
                </a:solidFill>
                <a:latin typeface="Helvetica" pitchFamily="2" charset="0"/>
              </a:rPr>
              <a:t>Circularization</a:t>
            </a:r>
            <a:r>
              <a:rPr lang="tr-TR" sz="2800" dirty="0">
                <a:solidFill>
                  <a:schemeClr val="bg1"/>
                </a:solidFill>
                <a:latin typeface="Helvetica" pitchFamily="2" charset="0"/>
              </a:rPr>
              <a:t>, </a:t>
            </a:r>
            <a:r>
              <a:rPr lang="tr-TR" sz="2800" dirty="0" err="1">
                <a:solidFill>
                  <a:schemeClr val="bg1"/>
                </a:solidFill>
                <a:latin typeface="Helvetica" pitchFamily="2" charset="0"/>
              </a:rPr>
              <a:t>Insertion</a:t>
            </a:r>
            <a:endParaRPr lang="tr-TR" sz="2800" dirty="0">
              <a:solidFill>
                <a:schemeClr val="bg1"/>
              </a:solidFill>
              <a:latin typeface="Helvetica" pitchFamily="2" charset="0"/>
            </a:endParaRPr>
          </a:p>
        </p:txBody>
      </p:sp>
      <p:pic>
        <p:nvPicPr>
          <p:cNvPr id="4" name="Resim 3">
            <a:extLst>
              <a:ext uri="{FF2B5EF4-FFF2-40B4-BE49-F238E27FC236}">
                <a16:creationId xmlns:a16="http://schemas.microsoft.com/office/drawing/2014/main" id="{B700DE72-4287-41CA-B114-5E380F7B333E}"/>
              </a:ext>
            </a:extLst>
          </p:cNvPr>
          <p:cNvPicPr>
            <a:picLocks noChangeAspect="1"/>
          </p:cNvPicPr>
          <p:nvPr/>
        </p:nvPicPr>
        <p:blipFill>
          <a:blip r:embed="rId2"/>
          <a:stretch>
            <a:fillRect/>
          </a:stretch>
        </p:blipFill>
        <p:spPr>
          <a:xfrm>
            <a:off x="1312434" y="1222688"/>
            <a:ext cx="7853082" cy="5332177"/>
          </a:xfrm>
          <a:prstGeom prst="rect">
            <a:avLst/>
          </a:prstGeom>
        </p:spPr>
      </p:pic>
    </p:spTree>
    <p:extLst>
      <p:ext uri="{BB962C8B-B14F-4D97-AF65-F5344CB8AC3E}">
        <p14:creationId xmlns:p14="http://schemas.microsoft.com/office/powerpoint/2010/main" val="3058360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ED19FAD-2B65-441D-A508-8A773D70A25E}"/>
              </a:ext>
            </a:extLst>
          </p:cNvPr>
          <p:cNvSpPr txBox="1"/>
          <p:nvPr/>
        </p:nvSpPr>
        <p:spPr>
          <a:xfrm>
            <a:off x="11479426" y="0"/>
            <a:ext cx="3132437" cy="5078313"/>
          </a:xfrm>
          <a:prstGeom prst="rect">
            <a:avLst/>
          </a:prstGeom>
          <a:noFill/>
        </p:spPr>
        <p:txBody>
          <a:bodyPr wrap="square">
            <a:spAutoFit/>
          </a:bodyPr>
          <a:lstStyle/>
          <a:p>
            <a:r>
              <a:rPr lang="en-US" dirty="0"/>
              <a:t>Talking Points: "To scientifically validate our simulation, we analyzed the Jacobi Constant. As you can see from this report generated by STK, after our final insertion maneuver, the value stabilizes perfectly at approximately 3.351150. This confirms that the spacecraft has settled into a stable energy state. Critically, this value matches the theoretical Jacobi Constant for the specific DRO we chose from the JPL database. This match proves that our simulation is not just visually correct, but dynamically accurate."</a:t>
            </a:r>
            <a:endParaRPr lang="tr-TR" dirty="0"/>
          </a:p>
        </p:txBody>
      </p:sp>
      <p:sp>
        <p:nvSpPr>
          <p:cNvPr id="6" name="Metin kutusu 5">
            <a:extLst>
              <a:ext uri="{FF2B5EF4-FFF2-40B4-BE49-F238E27FC236}">
                <a16:creationId xmlns:a16="http://schemas.microsoft.com/office/drawing/2014/main" id="{0440123A-1D0D-4103-9D25-2C86FAD3BEDC}"/>
              </a:ext>
            </a:extLst>
          </p:cNvPr>
          <p:cNvSpPr txBox="1"/>
          <p:nvPr/>
        </p:nvSpPr>
        <p:spPr>
          <a:xfrm>
            <a:off x="5238975" y="462744"/>
            <a:ext cx="6792868" cy="523220"/>
          </a:xfrm>
          <a:prstGeom prst="rect">
            <a:avLst/>
          </a:prstGeom>
          <a:noFill/>
        </p:spPr>
        <p:txBody>
          <a:bodyPr wrap="square" rtlCol="0">
            <a:spAutoFit/>
          </a:bodyPr>
          <a:lstStyle/>
          <a:p>
            <a:r>
              <a:rPr lang="tr-TR" sz="2800" dirty="0">
                <a:solidFill>
                  <a:schemeClr val="bg1"/>
                </a:solidFill>
                <a:latin typeface="Helvetica" pitchFamily="2" charset="0"/>
              </a:rPr>
              <a:t>4. </a:t>
            </a:r>
            <a:r>
              <a:rPr lang="tr-TR" sz="2800" dirty="0" err="1">
                <a:solidFill>
                  <a:schemeClr val="bg1"/>
                </a:solidFill>
                <a:latin typeface="Helvetica" pitchFamily="2" charset="0"/>
              </a:rPr>
              <a:t>Validation</a:t>
            </a:r>
            <a:r>
              <a:rPr lang="en-US" sz="2800" dirty="0">
                <a:solidFill>
                  <a:schemeClr val="bg1"/>
                </a:solidFill>
                <a:latin typeface="Helvetica" pitchFamily="2" charset="0"/>
              </a:rPr>
              <a:t>:</a:t>
            </a:r>
            <a:r>
              <a:rPr lang="tr-TR" sz="2800" dirty="0">
                <a:solidFill>
                  <a:schemeClr val="bg1"/>
                </a:solidFill>
                <a:latin typeface="Helvetica" pitchFamily="2" charset="0"/>
              </a:rPr>
              <a:t> </a:t>
            </a:r>
            <a:r>
              <a:rPr lang="tr-TR" sz="2800" dirty="0" err="1">
                <a:solidFill>
                  <a:schemeClr val="bg1"/>
                </a:solidFill>
                <a:latin typeface="Helvetica" pitchFamily="2" charset="0"/>
              </a:rPr>
              <a:t>Jacobi</a:t>
            </a:r>
            <a:r>
              <a:rPr lang="tr-TR" sz="2800" dirty="0">
                <a:solidFill>
                  <a:schemeClr val="bg1"/>
                </a:solidFill>
                <a:latin typeface="Helvetica" pitchFamily="2" charset="0"/>
              </a:rPr>
              <a:t> </a:t>
            </a:r>
            <a:r>
              <a:rPr lang="tr-TR" sz="2800" dirty="0" err="1">
                <a:solidFill>
                  <a:schemeClr val="bg1"/>
                </a:solidFill>
                <a:latin typeface="Helvetica" pitchFamily="2" charset="0"/>
              </a:rPr>
              <a:t>Constant</a:t>
            </a:r>
            <a:endParaRPr lang="tr-TR" sz="2800" dirty="0">
              <a:solidFill>
                <a:schemeClr val="bg1"/>
              </a:solidFill>
              <a:latin typeface="Helvetica" pitchFamily="2" charset="0"/>
            </a:endParaRPr>
          </a:p>
        </p:txBody>
      </p:sp>
      <p:pic>
        <p:nvPicPr>
          <p:cNvPr id="5" name="Resim 4">
            <a:extLst>
              <a:ext uri="{FF2B5EF4-FFF2-40B4-BE49-F238E27FC236}">
                <a16:creationId xmlns:a16="http://schemas.microsoft.com/office/drawing/2014/main" id="{5FD7CDB4-6F2F-4287-A14E-1AC68C8DE6DA}"/>
              </a:ext>
            </a:extLst>
          </p:cNvPr>
          <p:cNvPicPr/>
          <p:nvPr/>
        </p:nvPicPr>
        <p:blipFill>
          <a:blip r:embed="rId2"/>
          <a:stretch>
            <a:fillRect/>
          </a:stretch>
        </p:blipFill>
        <p:spPr>
          <a:xfrm>
            <a:off x="496197" y="1448708"/>
            <a:ext cx="9485555" cy="5113457"/>
          </a:xfrm>
          <a:prstGeom prst="rect">
            <a:avLst/>
          </a:prstGeom>
        </p:spPr>
      </p:pic>
    </p:spTree>
    <p:extLst>
      <p:ext uri="{BB962C8B-B14F-4D97-AF65-F5344CB8AC3E}">
        <p14:creationId xmlns:p14="http://schemas.microsoft.com/office/powerpoint/2010/main" val="1297282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ED19FAD-2B65-441D-A508-8A773D70A25E}"/>
              </a:ext>
            </a:extLst>
          </p:cNvPr>
          <p:cNvSpPr txBox="1"/>
          <p:nvPr/>
        </p:nvSpPr>
        <p:spPr>
          <a:xfrm>
            <a:off x="10822704" y="0"/>
            <a:ext cx="4981588" cy="12557284"/>
          </a:xfrm>
          <a:prstGeom prst="rect">
            <a:avLst/>
          </a:prstGeom>
          <a:noFill/>
        </p:spPr>
        <p:txBody>
          <a:bodyPr wrap="square">
            <a:spAutoFit/>
          </a:bodyPr>
          <a:lstStyle/>
          <a:p>
            <a:r>
              <a:rPr lang="en-US" dirty="0"/>
              <a:t>On the left, we see an Earth-Centered Inertial (ECI) frame.</a:t>
            </a:r>
            <a:endParaRPr lang="tr-TR" dirty="0"/>
          </a:p>
          <a:p>
            <a:r>
              <a:rPr lang="en-US" dirty="0"/>
              <a:t> In this system, the Earth's body </a:t>
            </a:r>
            <a:r>
              <a:rPr lang="en-US" i="1" dirty="0"/>
              <a:t>rotates</a:t>
            </a:r>
            <a:r>
              <a:rPr lang="en-US" dirty="0"/>
              <a:t> on its axis, while the Moon both </a:t>
            </a:r>
            <a:r>
              <a:rPr lang="en-US" i="1" dirty="0"/>
              <a:t>rotates</a:t>
            </a:r>
            <a:r>
              <a:rPr lang="en-US" dirty="0"/>
              <a:t> on its own axis and </a:t>
            </a:r>
            <a:r>
              <a:rPr lang="en-US" i="1" dirty="0"/>
              <a:t>revolves</a:t>
            </a:r>
            <a:r>
              <a:rPr lang="en-US" dirty="0"/>
              <a:t> around the Earth.«</a:t>
            </a:r>
            <a:endParaRPr lang="tr-TR" dirty="0"/>
          </a:p>
          <a:p>
            <a:endParaRPr lang="tr-TR" dirty="0"/>
          </a:p>
          <a:p>
            <a:r>
              <a:rPr lang="en-US" dirty="0"/>
              <a:t> The view is zoomed out to capture the 'big picture', showing the moon, the earth, and the spacecraft all at once.</a:t>
            </a:r>
            <a:endParaRPr lang="tr-TR" dirty="0"/>
          </a:p>
          <a:p>
            <a:endParaRPr lang="tr-TR" dirty="0"/>
          </a:p>
          <a:p>
            <a:endParaRPr lang="tr-TR" dirty="0"/>
          </a:p>
          <a:p>
            <a:r>
              <a:rPr lang="tr-TR" dirty="0"/>
              <a:t>Right </a:t>
            </a:r>
            <a:r>
              <a:rPr lang="tr-TR" dirty="0" err="1"/>
              <a:t>one</a:t>
            </a:r>
            <a:r>
              <a:rPr lang="tr-TR" dirty="0"/>
              <a:t> is </a:t>
            </a:r>
            <a:r>
              <a:rPr lang="en-US" dirty="0"/>
              <a:t>an Earth-Centered Inertial (ECI) frame</a:t>
            </a:r>
            <a:r>
              <a:rPr lang="tr-TR" dirty="0"/>
              <a:t> </a:t>
            </a:r>
            <a:r>
              <a:rPr lang="tr-TR" dirty="0" err="1"/>
              <a:t>too</a:t>
            </a:r>
            <a:r>
              <a:rPr lang="tr-TR" dirty="0"/>
              <a:t>.</a:t>
            </a:r>
          </a:p>
          <a:p>
            <a:endParaRPr lang="tr-TR" dirty="0"/>
          </a:p>
          <a:p>
            <a:endParaRPr lang="tr-TR" dirty="0"/>
          </a:p>
          <a:p>
            <a:r>
              <a:rPr lang="en-US" dirty="0"/>
              <a:t>As the simulation plays, you'll notice the color of the trajectory line changes. This helps us track which phase of the mission we're in at any given moment. The colors you'll see in the simulation match the color-coded diagram on the right. For instance, we see our launch trace in green, and it's also green on the diagram</a:t>
            </a:r>
            <a:r>
              <a:rPr lang="tr-TR" dirty="0"/>
              <a:t>.</a:t>
            </a:r>
          </a:p>
          <a:p>
            <a:endParaRPr lang="tr-TR" dirty="0"/>
          </a:p>
          <a:p>
            <a:r>
              <a:rPr lang="tr-TR" dirty="0" err="1"/>
              <a:t>Now</a:t>
            </a:r>
            <a:r>
              <a:rPr lang="tr-TR" dirty="0"/>
              <a:t> </a:t>
            </a:r>
            <a:r>
              <a:rPr lang="tr-TR" dirty="0" err="1"/>
              <a:t>lets</a:t>
            </a:r>
            <a:r>
              <a:rPr lang="tr-TR" dirty="0"/>
              <a:t> </a:t>
            </a:r>
            <a:r>
              <a:rPr lang="tr-TR" dirty="0" err="1"/>
              <a:t>watch</a:t>
            </a:r>
            <a:r>
              <a:rPr lang="tr-TR" dirty="0"/>
              <a:t> </a:t>
            </a:r>
            <a:r>
              <a:rPr lang="tr-TR" dirty="0" err="1"/>
              <a:t>this</a:t>
            </a:r>
            <a:r>
              <a:rPr lang="tr-TR" dirty="0"/>
              <a:t> </a:t>
            </a:r>
          </a:p>
          <a:p>
            <a:endParaRPr lang="tr-TR" dirty="0"/>
          </a:p>
          <a:p>
            <a:r>
              <a:rPr lang="tr-TR" dirty="0" err="1"/>
              <a:t>We</a:t>
            </a:r>
            <a:r>
              <a:rPr lang="tr-TR" dirty="0"/>
              <a:t> </a:t>
            </a:r>
            <a:r>
              <a:rPr lang="tr-TR" dirty="0" err="1"/>
              <a:t>are</a:t>
            </a:r>
            <a:r>
              <a:rPr lang="tr-TR" dirty="0"/>
              <a:t> </a:t>
            </a:r>
            <a:r>
              <a:rPr lang="tr-TR" dirty="0" err="1"/>
              <a:t>launching</a:t>
            </a:r>
            <a:r>
              <a:rPr lang="tr-TR" dirty="0"/>
              <a:t> </a:t>
            </a:r>
            <a:r>
              <a:rPr lang="tr-TR" dirty="0" err="1"/>
              <a:t>from</a:t>
            </a:r>
            <a:r>
              <a:rPr lang="tr-TR" dirty="0"/>
              <a:t> Florida Cape </a:t>
            </a:r>
            <a:r>
              <a:rPr lang="tr-TR" dirty="0" err="1"/>
              <a:t>canevarel</a:t>
            </a:r>
            <a:r>
              <a:rPr lang="tr-TR" dirty="0"/>
              <a:t> </a:t>
            </a:r>
          </a:p>
          <a:p>
            <a:endParaRPr lang="tr-TR" dirty="0"/>
          </a:p>
          <a:p>
            <a:r>
              <a:rPr lang="tr-TR" dirty="0" err="1"/>
              <a:t>We</a:t>
            </a:r>
            <a:r>
              <a:rPr lang="tr-TR" dirty="0"/>
              <a:t> </a:t>
            </a:r>
            <a:r>
              <a:rPr lang="tr-TR" dirty="0" err="1"/>
              <a:t>are</a:t>
            </a:r>
            <a:r>
              <a:rPr lang="tr-TR" dirty="0"/>
              <a:t> </a:t>
            </a:r>
            <a:r>
              <a:rPr lang="tr-TR" dirty="0" err="1"/>
              <a:t>coasting</a:t>
            </a:r>
            <a:r>
              <a:rPr lang="tr-TR" dirty="0"/>
              <a:t> </a:t>
            </a:r>
            <a:r>
              <a:rPr lang="tr-TR" dirty="0" err="1"/>
              <a:t>until</a:t>
            </a:r>
            <a:r>
              <a:rPr lang="tr-TR" dirty="0"/>
              <a:t> </a:t>
            </a:r>
            <a:r>
              <a:rPr lang="tr-TR" dirty="0" err="1"/>
              <a:t>our</a:t>
            </a:r>
            <a:r>
              <a:rPr lang="tr-TR" dirty="0"/>
              <a:t> </a:t>
            </a:r>
            <a:r>
              <a:rPr lang="tr-TR" dirty="0" err="1"/>
              <a:t>constraints</a:t>
            </a:r>
            <a:r>
              <a:rPr lang="tr-TR" dirty="0"/>
              <a:t> met </a:t>
            </a:r>
            <a:r>
              <a:rPr lang="tr-TR" dirty="0" err="1"/>
              <a:t>for</a:t>
            </a:r>
            <a:r>
              <a:rPr lang="tr-TR" dirty="0"/>
              <a:t> TLI</a:t>
            </a:r>
          </a:p>
          <a:p>
            <a:endParaRPr lang="tr-TR" dirty="0"/>
          </a:p>
          <a:p>
            <a:r>
              <a:rPr lang="tr-TR" dirty="0"/>
              <a:t>Here </a:t>
            </a:r>
            <a:r>
              <a:rPr lang="tr-TR" dirty="0" err="1"/>
              <a:t>we</a:t>
            </a:r>
            <a:r>
              <a:rPr lang="tr-TR" dirty="0"/>
              <a:t> </a:t>
            </a:r>
            <a:r>
              <a:rPr lang="tr-TR" dirty="0" err="1"/>
              <a:t>are</a:t>
            </a:r>
            <a:r>
              <a:rPr lang="tr-TR" dirty="0"/>
              <a:t> on </a:t>
            </a:r>
            <a:r>
              <a:rPr lang="tr-TR" dirty="0" err="1"/>
              <a:t>the</a:t>
            </a:r>
            <a:r>
              <a:rPr lang="tr-TR" dirty="0"/>
              <a:t> </a:t>
            </a:r>
            <a:r>
              <a:rPr lang="tr-TR" dirty="0" err="1"/>
              <a:t>way</a:t>
            </a:r>
            <a:r>
              <a:rPr lang="tr-TR" dirty="0"/>
              <a:t> </a:t>
            </a:r>
            <a:r>
              <a:rPr lang="tr-TR" dirty="0" err="1"/>
              <a:t>to</a:t>
            </a:r>
            <a:r>
              <a:rPr lang="tr-TR" dirty="0"/>
              <a:t> MOON, it </a:t>
            </a:r>
            <a:r>
              <a:rPr lang="tr-TR" dirty="0" err="1"/>
              <a:t>takes</a:t>
            </a:r>
            <a:r>
              <a:rPr lang="tr-TR" dirty="0"/>
              <a:t> 5.2 </a:t>
            </a:r>
            <a:r>
              <a:rPr lang="tr-TR" dirty="0" err="1"/>
              <a:t>days</a:t>
            </a:r>
            <a:r>
              <a:rPr lang="tr-TR" dirty="0"/>
              <a:t>  </a:t>
            </a:r>
            <a:r>
              <a:rPr lang="tr-TR" dirty="0" err="1"/>
              <a:t>to</a:t>
            </a:r>
            <a:r>
              <a:rPr lang="tr-TR" dirty="0"/>
              <a:t> </a:t>
            </a:r>
            <a:r>
              <a:rPr lang="tr-TR" dirty="0" err="1"/>
              <a:t>reach</a:t>
            </a:r>
            <a:r>
              <a:rPr lang="tr-TR" dirty="0"/>
              <a:t> </a:t>
            </a:r>
            <a:r>
              <a:rPr lang="tr-TR" dirty="0" err="1"/>
              <a:t>moon</a:t>
            </a:r>
            <a:r>
              <a:rPr lang="tr-TR" dirty="0"/>
              <a:t>. </a:t>
            </a:r>
            <a:r>
              <a:rPr lang="tr-TR" dirty="0" err="1"/>
              <a:t>similar</a:t>
            </a:r>
            <a:r>
              <a:rPr lang="tr-TR" dirty="0"/>
              <a:t> </a:t>
            </a:r>
            <a:r>
              <a:rPr lang="tr-TR" dirty="0" err="1"/>
              <a:t>to</a:t>
            </a:r>
            <a:r>
              <a:rPr lang="tr-TR" dirty="0"/>
              <a:t> Artemis1 </a:t>
            </a:r>
            <a:r>
              <a:rPr lang="tr-TR" dirty="0" err="1"/>
              <a:t>mission</a:t>
            </a:r>
            <a:endParaRPr lang="tr-TR" dirty="0"/>
          </a:p>
          <a:p>
            <a:r>
              <a:rPr lang="tr-TR" dirty="0" err="1"/>
              <a:t>We</a:t>
            </a:r>
            <a:r>
              <a:rPr lang="tr-TR" dirty="0"/>
              <a:t> </a:t>
            </a:r>
            <a:r>
              <a:rPr lang="tr-TR" dirty="0" err="1"/>
              <a:t>are</a:t>
            </a:r>
            <a:r>
              <a:rPr lang="tr-TR" dirty="0"/>
              <a:t> </a:t>
            </a:r>
            <a:r>
              <a:rPr lang="tr-TR" dirty="0" err="1"/>
              <a:t>approaching</a:t>
            </a:r>
            <a:r>
              <a:rPr lang="tr-TR" dirty="0"/>
              <a:t> </a:t>
            </a:r>
            <a:r>
              <a:rPr lang="tr-TR" dirty="0" err="1"/>
              <a:t>to</a:t>
            </a:r>
            <a:r>
              <a:rPr lang="tr-TR" dirty="0"/>
              <a:t> </a:t>
            </a:r>
            <a:r>
              <a:rPr lang="tr-TR" dirty="0" err="1"/>
              <a:t>moon</a:t>
            </a:r>
            <a:r>
              <a:rPr lang="tr-TR" dirty="0"/>
              <a:t> </a:t>
            </a:r>
            <a:r>
              <a:rPr lang="tr-TR" dirty="0" err="1"/>
              <a:t>from</a:t>
            </a:r>
            <a:r>
              <a:rPr lang="tr-TR" dirty="0"/>
              <a:t> North </a:t>
            </a:r>
            <a:r>
              <a:rPr lang="tr-TR" dirty="0" err="1"/>
              <a:t>with</a:t>
            </a:r>
            <a:r>
              <a:rPr lang="tr-TR" dirty="0"/>
              <a:t> an </a:t>
            </a:r>
            <a:r>
              <a:rPr lang="tr-TR" dirty="0" err="1"/>
              <a:t>inclination</a:t>
            </a:r>
            <a:r>
              <a:rPr lang="tr-TR" dirty="0"/>
              <a:t> of 173 </a:t>
            </a:r>
            <a:r>
              <a:rPr lang="tr-TR" dirty="0" err="1"/>
              <a:t>degrees</a:t>
            </a:r>
            <a:r>
              <a:rPr lang="tr-TR" dirty="0"/>
              <a:t>, it is </a:t>
            </a:r>
            <a:r>
              <a:rPr lang="tr-TR" dirty="0" err="1"/>
              <a:t>same</a:t>
            </a:r>
            <a:r>
              <a:rPr lang="tr-TR" dirty="0"/>
              <a:t> </a:t>
            </a:r>
            <a:r>
              <a:rPr lang="tr-TR" dirty="0" err="1"/>
              <a:t>with</a:t>
            </a:r>
            <a:r>
              <a:rPr lang="tr-TR" dirty="0"/>
              <a:t> </a:t>
            </a:r>
            <a:r>
              <a:rPr lang="tr-TR" dirty="0" err="1"/>
              <a:t>our</a:t>
            </a:r>
            <a:r>
              <a:rPr lang="tr-TR" dirty="0"/>
              <a:t> DRO </a:t>
            </a:r>
            <a:r>
              <a:rPr lang="tr-TR" dirty="0" err="1"/>
              <a:t>orbit’s</a:t>
            </a:r>
            <a:r>
              <a:rPr lang="tr-TR" dirty="0"/>
              <a:t> </a:t>
            </a:r>
            <a:r>
              <a:rPr lang="tr-TR" dirty="0" err="1"/>
              <a:t>inclination</a:t>
            </a:r>
            <a:r>
              <a:rPr lang="tr-TR" dirty="0"/>
              <a:t>.</a:t>
            </a:r>
          </a:p>
          <a:p>
            <a:endParaRPr lang="tr-TR" dirty="0"/>
          </a:p>
          <a:p>
            <a:r>
              <a:rPr lang="tr-TR" dirty="0"/>
              <a:t>As </a:t>
            </a:r>
            <a:r>
              <a:rPr lang="tr-TR" dirty="0" err="1"/>
              <a:t>we</a:t>
            </a:r>
            <a:r>
              <a:rPr lang="tr-TR" dirty="0"/>
              <a:t> </a:t>
            </a:r>
            <a:r>
              <a:rPr lang="tr-TR" dirty="0" err="1"/>
              <a:t>know</a:t>
            </a:r>
            <a:r>
              <a:rPr lang="tr-TR" dirty="0"/>
              <a:t> Artemis had </a:t>
            </a:r>
            <a:r>
              <a:rPr lang="tr-TR" dirty="0" err="1"/>
              <a:t>same</a:t>
            </a:r>
            <a:r>
              <a:rPr lang="tr-TR" dirty="0"/>
              <a:t> </a:t>
            </a:r>
            <a:r>
              <a:rPr lang="tr-TR" dirty="0" err="1"/>
              <a:t>inclination</a:t>
            </a:r>
            <a:r>
              <a:rPr lang="tr-TR" dirty="0"/>
              <a:t>. </a:t>
            </a:r>
          </a:p>
          <a:p>
            <a:endParaRPr lang="tr-TR" dirty="0"/>
          </a:p>
          <a:p>
            <a:r>
              <a:rPr lang="tr-TR" dirty="0"/>
              <a:t>At </a:t>
            </a:r>
            <a:r>
              <a:rPr lang="tr-TR" dirty="0" err="1"/>
              <a:t>the</a:t>
            </a:r>
            <a:r>
              <a:rPr lang="tr-TR" dirty="0"/>
              <a:t> </a:t>
            </a:r>
            <a:r>
              <a:rPr lang="tr-TR" dirty="0" err="1"/>
              <a:t>closest</a:t>
            </a:r>
            <a:r>
              <a:rPr lang="tr-TR" dirty="0"/>
              <a:t> </a:t>
            </a:r>
            <a:r>
              <a:rPr lang="tr-TR" dirty="0" err="1"/>
              <a:t>point</a:t>
            </a:r>
            <a:r>
              <a:rPr lang="tr-TR" dirty="0"/>
              <a:t> </a:t>
            </a:r>
            <a:r>
              <a:rPr lang="tr-TR" dirty="0" err="1"/>
              <a:t>for</a:t>
            </a:r>
            <a:r>
              <a:rPr lang="tr-TR" dirty="0"/>
              <a:t> </a:t>
            </a:r>
            <a:r>
              <a:rPr lang="tr-TR" dirty="0" err="1"/>
              <a:t>the</a:t>
            </a:r>
            <a:r>
              <a:rPr lang="tr-TR" dirty="0"/>
              <a:t> </a:t>
            </a:r>
            <a:r>
              <a:rPr lang="tr-TR" dirty="0" err="1"/>
              <a:t>moon</a:t>
            </a:r>
            <a:r>
              <a:rPr lang="tr-TR" dirty="0"/>
              <a:t> </a:t>
            </a:r>
            <a:r>
              <a:rPr lang="tr-TR" dirty="0" err="1"/>
              <a:t>targeted</a:t>
            </a:r>
            <a:r>
              <a:rPr lang="tr-TR" dirty="0"/>
              <a:t> 100km, </a:t>
            </a:r>
            <a:r>
              <a:rPr lang="tr-TR" dirty="0" err="1"/>
              <a:t>so</a:t>
            </a:r>
            <a:r>
              <a:rPr lang="tr-TR" dirty="0"/>
              <a:t> </a:t>
            </a:r>
            <a:r>
              <a:rPr lang="tr-TR" dirty="0" err="1"/>
              <a:t>we</a:t>
            </a:r>
            <a:r>
              <a:rPr lang="tr-TR" dirty="0"/>
              <a:t> </a:t>
            </a:r>
            <a:r>
              <a:rPr lang="tr-TR" dirty="0" err="1"/>
              <a:t>are</a:t>
            </a:r>
            <a:r>
              <a:rPr lang="tr-TR" dirty="0"/>
              <a:t> </a:t>
            </a:r>
            <a:r>
              <a:rPr lang="tr-TR" dirty="0" err="1"/>
              <a:t>burning</a:t>
            </a:r>
            <a:r>
              <a:rPr lang="tr-TR" dirty="0"/>
              <a:t> </a:t>
            </a:r>
            <a:r>
              <a:rPr lang="tr-TR" dirty="0" err="1"/>
              <a:t>to</a:t>
            </a:r>
            <a:r>
              <a:rPr lang="tr-TR" dirty="0"/>
              <a:t> </a:t>
            </a:r>
            <a:r>
              <a:rPr lang="tr-TR" dirty="0" err="1"/>
              <a:t>reach</a:t>
            </a:r>
            <a:r>
              <a:rPr lang="tr-TR" dirty="0"/>
              <a:t> DRO at </a:t>
            </a:r>
            <a:r>
              <a:rPr lang="tr-TR" dirty="0" err="1"/>
              <a:t>apogee</a:t>
            </a:r>
            <a:r>
              <a:rPr lang="tr-TR" dirty="0"/>
              <a:t> </a:t>
            </a:r>
            <a:r>
              <a:rPr lang="tr-TR" dirty="0" err="1"/>
              <a:t>point</a:t>
            </a:r>
            <a:r>
              <a:rPr lang="tr-TR" dirty="0"/>
              <a:t> of </a:t>
            </a:r>
            <a:r>
              <a:rPr lang="tr-TR" dirty="0" err="1"/>
              <a:t>our</a:t>
            </a:r>
            <a:r>
              <a:rPr lang="tr-TR" dirty="0"/>
              <a:t> </a:t>
            </a:r>
            <a:r>
              <a:rPr lang="tr-TR" dirty="0" err="1"/>
              <a:t>orbit</a:t>
            </a:r>
            <a:r>
              <a:rPr lang="tr-TR" dirty="0"/>
              <a:t>. </a:t>
            </a:r>
            <a:r>
              <a:rPr lang="tr-TR" dirty="0" err="1"/>
              <a:t>Then</a:t>
            </a:r>
            <a:r>
              <a:rPr lang="tr-TR" dirty="0"/>
              <a:t> </a:t>
            </a:r>
            <a:r>
              <a:rPr lang="tr-TR" dirty="0" err="1"/>
              <a:t>we</a:t>
            </a:r>
            <a:r>
              <a:rPr lang="tr-TR" dirty="0"/>
              <a:t> </a:t>
            </a:r>
            <a:r>
              <a:rPr lang="tr-TR" dirty="0" err="1"/>
              <a:t>are</a:t>
            </a:r>
            <a:r>
              <a:rPr lang="tr-TR" dirty="0"/>
              <a:t> </a:t>
            </a:r>
            <a:r>
              <a:rPr lang="tr-TR" dirty="0" err="1"/>
              <a:t>making</a:t>
            </a:r>
            <a:r>
              <a:rPr lang="tr-TR" dirty="0"/>
              <a:t> </a:t>
            </a:r>
            <a:r>
              <a:rPr lang="tr-TR" dirty="0" err="1"/>
              <a:t>circulization</a:t>
            </a:r>
            <a:r>
              <a:rPr lang="tr-TR" dirty="0"/>
              <a:t> at </a:t>
            </a:r>
            <a:r>
              <a:rPr lang="tr-TR" dirty="0" err="1"/>
              <a:t>the</a:t>
            </a:r>
            <a:r>
              <a:rPr lang="tr-TR" dirty="0"/>
              <a:t> </a:t>
            </a:r>
            <a:r>
              <a:rPr lang="tr-TR" dirty="0" err="1"/>
              <a:t>apogee</a:t>
            </a:r>
            <a:endParaRPr lang="tr-TR" dirty="0"/>
          </a:p>
          <a:p>
            <a:endParaRPr lang="tr-TR" dirty="0"/>
          </a:p>
          <a:p>
            <a:r>
              <a:rPr lang="tr-TR" dirty="0" err="1"/>
              <a:t>When</a:t>
            </a:r>
            <a:r>
              <a:rPr lang="tr-TR" dirty="0"/>
              <a:t> </a:t>
            </a:r>
            <a:r>
              <a:rPr lang="tr-TR" dirty="0" err="1"/>
              <a:t>we</a:t>
            </a:r>
            <a:r>
              <a:rPr lang="tr-TR" dirty="0"/>
              <a:t> </a:t>
            </a:r>
            <a:r>
              <a:rPr lang="tr-TR" dirty="0" err="1"/>
              <a:t>are</a:t>
            </a:r>
            <a:r>
              <a:rPr lang="tr-TR" dirty="0"/>
              <a:t> on </a:t>
            </a:r>
            <a:r>
              <a:rPr lang="tr-TR" dirty="0" err="1"/>
              <a:t>circular</a:t>
            </a:r>
            <a:r>
              <a:rPr lang="tr-TR" dirty="0"/>
              <a:t> </a:t>
            </a:r>
            <a:r>
              <a:rPr lang="tr-TR" dirty="0" err="1"/>
              <a:t>orbit</a:t>
            </a:r>
            <a:r>
              <a:rPr lang="tr-TR" dirty="0"/>
              <a:t>, </a:t>
            </a:r>
            <a:r>
              <a:rPr lang="tr-TR" dirty="0" err="1"/>
              <a:t>there</a:t>
            </a:r>
            <a:r>
              <a:rPr lang="tr-TR" dirty="0"/>
              <a:t> is </a:t>
            </a:r>
            <a:r>
              <a:rPr lang="tr-TR" dirty="0" err="1"/>
              <a:t>intersection</a:t>
            </a:r>
            <a:r>
              <a:rPr lang="tr-TR" dirty="0"/>
              <a:t> </a:t>
            </a:r>
            <a:r>
              <a:rPr lang="tr-TR" dirty="0" err="1"/>
              <a:t>with</a:t>
            </a:r>
            <a:r>
              <a:rPr lang="tr-TR" dirty="0"/>
              <a:t> </a:t>
            </a:r>
            <a:r>
              <a:rPr lang="tr-TR" dirty="0" err="1"/>
              <a:t>our</a:t>
            </a:r>
            <a:r>
              <a:rPr lang="tr-TR" dirty="0"/>
              <a:t> </a:t>
            </a:r>
            <a:r>
              <a:rPr lang="tr-TR" dirty="0" err="1"/>
              <a:t>circualr</a:t>
            </a:r>
            <a:r>
              <a:rPr lang="tr-TR" dirty="0"/>
              <a:t> </a:t>
            </a:r>
            <a:r>
              <a:rPr lang="tr-TR" dirty="0" err="1"/>
              <a:t>orbit</a:t>
            </a:r>
            <a:r>
              <a:rPr lang="tr-TR" dirty="0"/>
              <a:t> </a:t>
            </a:r>
            <a:r>
              <a:rPr lang="tr-TR" dirty="0" err="1"/>
              <a:t>and</a:t>
            </a:r>
            <a:r>
              <a:rPr lang="tr-TR" dirty="0"/>
              <a:t> DRO, </a:t>
            </a:r>
            <a:r>
              <a:rPr lang="tr-TR" dirty="0" err="1"/>
              <a:t>so</a:t>
            </a:r>
            <a:r>
              <a:rPr lang="tr-TR" dirty="0"/>
              <a:t> </a:t>
            </a:r>
            <a:r>
              <a:rPr lang="tr-TR" dirty="0" err="1"/>
              <a:t>we</a:t>
            </a:r>
            <a:r>
              <a:rPr lang="tr-TR" dirty="0"/>
              <a:t> </a:t>
            </a:r>
            <a:r>
              <a:rPr lang="tr-TR" dirty="0" err="1"/>
              <a:t>are</a:t>
            </a:r>
            <a:r>
              <a:rPr lang="tr-TR" dirty="0"/>
              <a:t> </a:t>
            </a:r>
            <a:r>
              <a:rPr lang="tr-TR" dirty="0" err="1"/>
              <a:t>making</a:t>
            </a:r>
            <a:r>
              <a:rPr lang="tr-TR" dirty="0"/>
              <a:t> a </a:t>
            </a:r>
            <a:r>
              <a:rPr lang="tr-TR" dirty="0" err="1"/>
              <a:t>tiny</a:t>
            </a:r>
            <a:r>
              <a:rPr lang="tr-TR" dirty="0"/>
              <a:t> </a:t>
            </a:r>
            <a:r>
              <a:rPr lang="tr-TR" dirty="0" err="1"/>
              <a:t>manauver</a:t>
            </a:r>
            <a:r>
              <a:rPr lang="tr-TR" dirty="0"/>
              <a:t> </a:t>
            </a:r>
            <a:r>
              <a:rPr lang="tr-TR" dirty="0" err="1"/>
              <a:t>to</a:t>
            </a:r>
            <a:r>
              <a:rPr lang="tr-TR" dirty="0"/>
              <a:t> </a:t>
            </a:r>
            <a:r>
              <a:rPr lang="tr-TR" dirty="0" err="1"/>
              <a:t>reach</a:t>
            </a:r>
            <a:r>
              <a:rPr lang="tr-TR" dirty="0"/>
              <a:t> DRO.</a:t>
            </a:r>
          </a:p>
        </p:txBody>
      </p:sp>
      <p:sp>
        <p:nvSpPr>
          <p:cNvPr id="6" name="Metin kutusu 5">
            <a:extLst>
              <a:ext uri="{FF2B5EF4-FFF2-40B4-BE49-F238E27FC236}">
                <a16:creationId xmlns:a16="http://schemas.microsoft.com/office/drawing/2014/main" id="{0440123A-1D0D-4103-9D25-2C86FAD3BEDC}"/>
              </a:ext>
            </a:extLst>
          </p:cNvPr>
          <p:cNvSpPr txBox="1"/>
          <p:nvPr/>
        </p:nvSpPr>
        <p:spPr>
          <a:xfrm>
            <a:off x="5491269" y="462744"/>
            <a:ext cx="2461956" cy="523220"/>
          </a:xfrm>
          <a:prstGeom prst="rect">
            <a:avLst/>
          </a:prstGeom>
          <a:noFill/>
        </p:spPr>
        <p:txBody>
          <a:bodyPr wrap="none" rtlCol="0">
            <a:spAutoFit/>
          </a:bodyPr>
          <a:lstStyle/>
          <a:p>
            <a:r>
              <a:rPr lang="tr-TR" sz="2800" dirty="0">
                <a:solidFill>
                  <a:schemeClr val="bg1"/>
                </a:solidFill>
                <a:latin typeface="Helvetica" pitchFamily="2" charset="0"/>
              </a:rPr>
              <a:t> 4. </a:t>
            </a:r>
            <a:r>
              <a:rPr lang="tr-TR" sz="2800" dirty="0" err="1">
                <a:solidFill>
                  <a:schemeClr val="bg1"/>
                </a:solidFill>
                <a:latin typeface="Helvetica" pitchFamily="2" charset="0"/>
              </a:rPr>
              <a:t>Animation</a:t>
            </a:r>
            <a:r>
              <a:rPr lang="tr-TR" sz="2800" dirty="0">
                <a:solidFill>
                  <a:schemeClr val="bg1"/>
                </a:solidFill>
                <a:latin typeface="Helvetica" pitchFamily="2" charset="0"/>
              </a:rPr>
              <a:t> I</a:t>
            </a:r>
          </a:p>
        </p:txBody>
      </p:sp>
      <p:pic>
        <p:nvPicPr>
          <p:cNvPr id="7" name="Resim 6">
            <a:extLst>
              <a:ext uri="{FF2B5EF4-FFF2-40B4-BE49-F238E27FC236}">
                <a16:creationId xmlns:a16="http://schemas.microsoft.com/office/drawing/2014/main" id="{FCC9472B-ACCD-46C2-AC35-06980F701B75}"/>
              </a:ext>
            </a:extLst>
          </p:cNvPr>
          <p:cNvPicPr>
            <a:picLocks noChangeAspect="1"/>
          </p:cNvPicPr>
          <p:nvPr/>
        </p:nvPicPr>
        <p:blipFill rotWithShape="1">
          <a:blip r:embed="rId2"/>
          <a:srcRect b="18176"/>
          <a:stretch/>
        </p:blipFill>
        <p:spPr>
          <a:xfrm>
            <a:off x="8978900" y="1952481"/>
            <a:ext cx="1843805" cy="3416320"/>
          </a:xfrm>
          <a:prstGeom prst="rect">
            <a:avLst/>
          </a:prstGeom>
        </p:spPr>
      </p:pic>
      <p:sp>
        <p:nvSpPr>
          <p:cNvPr id="2" name="Metin kutusu 1">
            <a:extLst>
              <a:ext uri="{FF2B5EF4-FFF2-40B4-BE49-F238E27FC236}">
                <a16:creationId xmlns:a16="http://schemas.microsoft.com/office/drawing/2014/main" id="{3660AEEE-E3C3-4BB5-BC4E-7F830E3EB1AB}"/>
              </a:ext>
            </a:extLst>
          </p:cNvPr>
          <p:cNvSpPr txBox="1"/>
          <p:nvPr/>
        </p:nvSpPr>
        <p:spPr>
          <a:xfrm>
            <a:off x="1708727" y="3094182"/>
            <a:ext cx="4796057" cy="369332"/>
          </a:xfrm>
          <a:prstGeom prst="rect">
            <a:avLst/>
          </a:prstGeom>
          <a:noFill/>
        </p:spPr>
        <p:txBody>
          <a:bodyPr wrap="none" rtlCol="0">
            <a:spAutoFit/>
          </a:bodyPr>
          <a:lstStyle/>
          <a:p>
            <a:r>
              <a:rPr lang="tr-TR" dirty="0" err="1"/>
              <a:t>You</a:t>
            </a:r>
            <a:r>
              <a:rPr lang="tr-TR" dirty="0"/>
              <a:t> can </a:t>
            </a:r>
            <a:r>
              <a:rPr lang="tr-TR" dirty="0" err="1"/>
              <a:t>watch</a:t>
            </a:r>
            <a:r>
              <a:rPr lang="tr-TR" dirty="0"/>
              <a:t> </a:t>
            </a:r>
            <a:r>
              <a:rPr lang="tr-TR" dirty="0" err="1"/>
              <a:t>simulation</a:t>
            </a:r>
            <a:r>
              <a:rPr lang="tr-TR" dirty="0"/>
              <a:t> </a:t>
            </a:r>
            <a:r>
              <a:rPr lang="tr-TR" dirty="0" err="1"/>
              <a:t>videos</a:t>
            </a:r>
            <a:r>
              <a:rPr lang="tr-TR" dirty="0"/>
              <a:t> </a:t>
            </a:r>
            <a:r>
              <a:rPr lang="tr-TR" dirty="0" err="1"/>
              <a:t>from</a:t>
            </a:r>
            <a:r>
              <a:rPr lang="tr-TR" dirty="0"/>
              <a:t> </a:t>
            </a:r>
            <a:r>
              <a:rPr lang="tr-TR" dirty="0" err="1"/>
              <a:t>media</a:t>
            </a:r>
            <a:r>
              <a:rPr lang="tr-TR" dirty="0"/>
              <a:t> </a:t>
            </a:r>
            <a:r>
              <a:rPr lang="tr-TR" dirty="0" err="1"/>
              <a:t>files</a:t>
            </a:r>
            <a:endParaRPr lang="tr-TR" dirty="0"/>
          </a:p>
        </p:txBody>
      </p:sp>
    </p:spTree>
    <p:extLst>
      <p:ext uri="{BB962C8B-B14F-4D97-AF65-F5344CB8AC3E}">
        <p14:creationId xmlns:p14="http://schemas.microsoft.com/office/powerpoint/2010/main" val="2177421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ED19FAD-2B65-441D-A508-8A773D70A25E}"/>
              </a:ext>
            </a:extLst>
          </p:cNvPr>
          <p:cNvSpPr txBox="1"/>
          <p:nvPr/>
        </p:nvSpPr>
        <p:spPr>
          <a:xfrm>
            <a:off x="11417642" y="0"/>
            <a:ext cx="3132437" cy="3693319"/>
          </a:xfrm>
          <a:prstGeom prst="rect">
            <a:avLst/>
          </a:prstGeom>
          <a:noFill/>
        </p:spPr>
        <p:txBody>
          <a:bodyPr wrap="square">
            <a:spAutoFit/>
          </a:bodyPr>
          <a:lstStyle/>
          <a:p>
            <a:r>
              <a:rPr lang="en-US" b="1" dirty="0"/>
              <a:t>Now, let's watch the same sequence from a different perspective. This is a Moon-fixed frame, which clearly shows the trajectory relative to the Moon itself. You can see the spacecraft arriving on its hyperbolic path, performing the capture maneuver into the large elliptical orbit, then the circularization burn, and finally settling into the stable Distant Retrograde Orbit.</a:t>
            </a:r>
            <a:endParaRPr lang="tr-TR" dirty="0"/>
          </a:p>
        </p:txBody>
      </p:sp>
      <p:sp>
        <p:nvSpPr>
          <p:cNvPr id="6" name="Metin kutusu 5">
            <a:extLst>
              <a:ext uri="{FF2B5EF4-FFF2-40B4-BE49-F238E27FC236}">
                <a16:creationId xmlns:a16="http://schemas.microsoft.com/office/drawing/2014/main" id="{0440123A-1D0D-4103-9D25-2C86FAD3BEDC}"/>
              </a:ext>
            </a:extLst>
          </p:cNvPr>
          <p:cNvSpPr txBox="1"/>
          <p:nvPr/>
        </p:nvSpPr>
        <p:spPr>
          <a:xfrm>
            <a:off x="5491269" y="462744"/>
            <a:ext cx="2461956" cy="523220"/>
          </a:xfrm>
          <a:prstGeom prst="rect">
            <a:avLst/>
          </a:prstGeom>
          <a:noFill/>
        </p:spPr>
        <p:txBody>
          <a:bodyPr wrap="none" rtlCol="0">
            <a:spAutoFit/>
          </a:bodyPr>
          <a:lstStyle/>
          <a:p>
            <a:r>
              <a:rPr lang="tr-TR" sz="2800" dirty="0">
                <a:solidFill>
                  <a:schemeClr val="bg1"/>
                </a:solidFill>
                <a:latin typeface="Helvetica" pitchFamily="2" charset="0"/>
              </a:rPr>
              <a:t>4. </a:t>
            </a:r>
            <a:r>
              <a:rPr lang="tr-TR" sz="2800" dirty="0" err="1">
                <a:solidFill>
                  <a:schemeClr val="bg1"/>
                </a:solidFill>
                <a:latin typeface="Helvetica" pitchFamily="2" charset="0"/>
              </a:rPr>
              <a:t>Animation</a:t>
            </a:r>
            <a:r>
              <a:rPr lang="tr-TR" sz="2800" dirty="0">
                <a:solidFill>
                  <a:schemeClr val="bg1"/>
                </a:solidFill>
                <a:latin typeface="Helvetica" pitchFamily="2" charset="0"/>
              </a:rPr>
              <a:t> II</a:t>
            </a:r>
          </a:p>
        </p:txBody>
      </p:sp>
      <p:pic>
        <p:nvPicPr>
          <p:cNvPr id="7" name="Resim 6">
            <a:extLst>
              <a:ext uri="{FF2B5EF4-FFF2-40B4-BE49-F238E27FC236}">
                <a16:creationId xmlns:a16="http://schemas.microsoft.com/office/drawing/2014/main" id="{68F21107-2EB4-42A3-B5B0-FD46D5994DE8}"/>
              </a:ext>
            </a:extLst>
          </p:cNvPr>
          <p:cNvPicPr>
            <a:picLocks noChangeAspect="1"/>
          </p:cNvPicPr>
          <p:nvPr/>
        </p:nvPicPr>
        <p:blipFill rotWithShape="1">
          <a:blip r:embed="rId2"/>
          <a:srcRect b="18176"/>
          <a:stretch/>
        </p:blipFill>
        <p:spPr>
          <a:xfrm>
            <a:off x="9001760" y="2001649"/>
            <a:ext cx="1843805" cy="3416320"/>
          </a:xfrm>
          <a:prstGeom prst="rect">
            <a:avLst/>
          </a:prstGeom>
        </p:spPr>
      </p:pic>
      <p:sp>
        <p:nvSpPr>
          <p:cNvPr id="3" name="Metin kutusu 2">
            <a:extLst>
              <a:ext uri="{FF2B5EF4-FFF2-40B4-BE49-F238E27FC236}">
                <a16:creationId xmlns:a16="http://schemas.microsoft.com/office/drawing/2014/main" id="{FDF54291-537E-49EA-90F0-7FC53651D660}"/>
              </a:ext>
            </a:extLst>
          </p:cNvPr>
          <p:cNvSpPr txBox="1"/>
          <p:nvPr/>
        </p:nvSpPr>
        <p:spPr>
          <a:xfrm flipH="1">
            <a:off x="1283535" y="3429000"/>
            <a:ext cx="4954791" cy="369332"/>
          </a:xfrm>
          <a:prstGeom prst="rect">
            <a:avLst/>
          </a:prstGeom>
          <a:noFill/>
        </p:spPr>
        <p:txBody>
          <a:bodyPr wrap="square" rtlCol="0">
            <a:spAutoFit/>
          </a:bodyPr>
          <a:lstStyle/>
          <a:p>
            <a:r>
              <a:rPr lang="tr-TR"/>
              <a:t>You can watch simulation videos from media files</a:t>
            </a:r>
            <a:endParaRPr lang="tr-TR" dirty="0"/>
          </a:p>
        </p:txBody>
      </p:sp>
    </p:spTree>
    <p:extLst>
      <p:ext uri="{BB962C8B-B14F-4D97-AF65-F5344CB8AC3E}">
        <p14:creationId xmlns:p14="http://schemas.microsoft.com/office/powerpoint/2010/main" val="1583664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A4277555-B00A-41EE-BCF6-FEDA0AEB4F90}"/>
              </a:ext>
            </a:extLst>
          </p:cNvPr>
          <p:cNvSpPr>
            <a:spLocks noChangeArrowheads="1"/>
          </p:cNvSpPr>
          <p:nvPr/>
        </p:nvSpPr>
        <p:spPr bwMode="auto">
          <a:xfrm>
            <a:off x="182880" y="2407971"/>
            <a:ext cx="916475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Finding</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1:</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Earth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escape</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requires</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ride</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Rideshare</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/OTV).</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Finding</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2:</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Cislunar</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maneuvering</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is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feasible</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but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orbit</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choice</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is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critical</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for</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ΔV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budget</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Finding</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3:</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Targeting</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larger-radius</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DROs</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can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further</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reduce</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capture</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costs</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Finding</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4:</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The</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transfer profile is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suitable</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for</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low-thrust</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electric</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propulsion</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Validation</a:t>
            </a:r>
            <a:r>
              <a:rPr kumimoji="0" lang="tr-TR" altLang="tr-TR" sz="1800" b="1"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High-</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fidelity</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simulation</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confirms</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practical</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feasibility</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of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the</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staged</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 </a:t>
            </a:r>
            <a:r>
              <a:rPr kumimoji="0" lang="tr-TR" altLang="tr-TR" sz="1800" b="0" i="0" u="none" strike="noStrike" cap="none" normalizeH="0" baseline="0" dirty="0" err="1">
                <a:ln>
                  <a:noFill/>
                </a:ln>
                <a:solidFill>
                  <a:schemeClr val="tx1"/>
                </a:solidFill>
                <a:effectLst/>
                <a:latin typeface="Helvetica" panose="020B0604020202020204" pitchFamily="34" charset="0"/>
                <a:cs typeface="Helvetica" panose="020B0604020202020204" pitchFamily="34" charset="0"/>
              </a:rPr>
              <a:t>approach</a:t>
            </a:r>
            <a:r>
              <a:rPr kumimoji="0" lang="tr-TR" altLang="tr-TR" sz="1800" b="0" i="0" u="none" strike="noStrike" cap="none" normalizeH="0" baseline="0" dirty="0">
                <a:ln>
                  <a:noFill/>
                </a:ln>
                <a:solidFill>
                  <a:schemeClr val="tx1"/>
                </a:solidFill>
                <a:effectLst/>
                <a:latin typeface="Helvetica" panose="020B0604020202020204" pitchFamily="34" charset="0"/>
                <a:cs typeface="Helvetica" panose="020B0604020202020204" pitchFamily="34" charset="0"/>
              </a:rPr>
              <a:t>.</a:t>
            </a:r>
          </a:p>
        </p:txBody>
      </p:sp>
      <p:sp>
        <p:nvSpPr>
          <p:cNvPr id="4" name="Metin kutusu 3">
            <a:extLst>
              <a:ext uri="{FF2B5EF4-FFF2-40B4-BE49-F238E27FC236}">
                <a16:creationId xmlns:a16="http://schemas.microsoft.com/office/drawing/2014/main" id="{2F23A831-36C6-4521-B3A9-86B58ECFCECE}"/>
              </a:ext>
            </a:extLst>
          </p:cNvPr>
          <p:cNvSpPr txBox="1"/>
          <p:nvPr/>
        </p:nvSpPr>
        <p:spPr>
          <a:xfrm>
            <a:off x="5491269" y="462744"/>
            <a:ext cx="4482317" cy="523220"/>
          </a:xfrm>
          <a:prstGeom prst="rect">
            <a:avLst/>
          </a:prstGeom>
          <a:noFill/>
        </p:spPr>
        <p:txBody>
          <a:bodyPr wrap="none" rtlCol="0">
            <a:spAutoFit/>
          </a:bodyPr>
          <a:lstStyle/>
          <a:p>
            <a:r>
              <a:rPr lang="tr-TR" sz="2800" dirty="0">
                <a:solidFill>
                  <a:schemeClr val="bg1"/>
                </a:solidFill>
                <a:latin typeface="Helvetica" pitchFamily="2" charset="0"/>
              </a:rPr>
              <a:t>5. </a:t>
            </a:r>
            <a:r>
              <a:rPr lang="tr-TR" sz="2800" dirty="0" err="1">
                <a:solidFill>
                  <a:schemeClr val="bg1"/>
                </a:solidFill>
                <a:latin typeface="Helvetica" pitchFamily="2" charset="0"/>
              </a:rPr>
              <a:t>Conclusion</a:t>
            </a:r>
            <a:r>
              <a:rPr lang="tr-TR" sz="2800" dirty="0">
                <a:solidFill>
                  <a:schemeClr val="bg1"/>
                </a:solidFill>
                <a:latin typeface="Helvetica" pitchFamily="2" charset="0"/>
              </a:rPr>
              <a:t> &amp; Evaluation</a:t>
            </a:r>
          </a:p>
        </p:txBody>
      </p:sp>
      <p:sp>
        <p:nvSpPr>
          <p:cNvPr id="6" name="Metin kutusu 5">
            <a:extLst>
              <a:ext uri="{FF2B5EF4-FFF2-40B4-BE49-F238E27FC236}">
                <a16:creationId xmlns:a16="http://schemas.microsoft.com/office/drawing/2014/main" id="{6C0EBB3A-5C79-4B0A-BD83-1C28E9D7A3D5}"/>
              </a:ext>
            </a:extLst>
          </p:cNvPr>
          <p:cNvSpPr txBox="1"/>
          <p:nvPr/>
        </p:nvSpPr>
        <p:spPr>
          <a:xfrm>
            <a:off x="11615351" y="254797"/>
            <a:ext cx="2840552" cy="8956298"/>
          </a:xfrm>
          <a:prstGeom prst="rect">
            <a:avLst/>
          </a:prstGeom>
          <a:noFill/>
        </p:spPr>
        <p:txBody>
          <a:bodyPr wrap="square">
            <a:spAutoFit/>
          </a:bodyPr>
          <a:lstStyle/>
          <a:p>
            <a:r>
              <a:rPr lang="tr-TR" dirty="0"/>
              <a:t>"</a:t>
            </a:r>
            <a:r>
              <a:rPr lang="tr-TR" dirty="0" err="1"/>
              <a:t>In</a:t>
            </a:r>
            <a:r>
              <a:rPr lang="tr-TR" dirty="0"/>
              <a:t> </a:t>
            </a:r>
            <a:r>
              <a:rPr lang="tr-TR" dirty="0" err="1"/>
              <a:t>conclusion</a:t>
            </a:r>
            <a:r>
              <a:rPr lang="tr-TR" dirty="0"/>
              <a:t>, </a:t>
            </a:r>
            <a:r>
              <a:rPr lang="tr-TR" dirty="0" err="1"/>
              <a:t>this</a:t>
            </a:r>
            <a:r>
              <a:rPr lang="tr-TR" dirty="0"/>
              <a:t> </a:t>
            </a:r>
            <a:r>
              <a:rPr lang="tr-TR" dirty="0" err="1"/>
              <a:t>project</a:t>
            </a:r>
            <a:r>
              <a:rPr lang="tr-TR" dirty="0"/>
              <a:t> has </a:t>
            </a:r>
            <a:r>
              <a:rPr lang="tr-TR" dirty="0" err="1"/>
              <a:t>led</a:t>
            </a:r>
            <a:r>
              <a:rPr lang="tr-TR" dirty="0"/>
              <a:t> </a:t>
            </a:r>
            <a:r>
              <a:rPr lang="tr-TR" dirty="0" err="1"/>
              <a:t>to</a:t>
            </a:r>
            <a:r>
              <a:rPr lang="tr-TR" dirty="0"/>
              <a:t> </a:t>
            </a:r>
            <a:r>
              <a:rPr lang="tr-TR" dirty="0" err="1"/>
              <a:t>several</a:t>
            </a:r>
            <a:r>
              <a:rPr lang="tr-TR" dirty="0"/>
              <a:t> </a:t>
            </a:r>
            <a:r>
              <a:rPr lang="tr-TR" dirty="0" err="1"/>
              <a:t>key</a:t>
            </a:r>
            <a:r>
              <a:rPr lang="tr-TR" dirty="0"/>
              <a:t> </a:t>
            </a:r>
            <a:r>
              <a:rPr lang="tr-TR" dirty="0" err="1"/>
              <a:t>findings</a:t>
            </a:r>
            <a:r>
              <a:rPr lang="tr-TR" dirty="0"/>
              <a:t>. First, </a:t>
            </a:r>
            <a:r>
              <a:rPr lang="tr-TR" dirty="0" err="1"/>
              <a:t>the</a:t>
            </a:r>
            <a:r>
              <a:rPr lang="tr-TR" dirty="0"/>
              <a:t> Earth Escape </a:t>
            </a:r>
            <a:r>
              <a:rPr lang="tr-TR" dirty="0" err="1"/>
              <a:t>Barrier</a:t>
            </a:r>
            <a:r>
              <a:rPr lang="tr-TR" dirty="0"/>
              <a:t> </a:t>
            </a:r>
            <a:r>
              <a:rPr lang="tr-TR" dirty="0" err="1"/>
              <a:t>remains</a:t>
            </a:r>
            <a:r>
              <a:rPr lang="tr-TR" dirty="0"/>
              <a:t> a </a:t>
            </a:r>
            <a:r>
              <a:rPr lang="tr-TR" dirty="0" err="1"/>
              <a:t>fundamental</a:t>
            </a:r>
            <a:r>
              <a:rPr lang="tr-TR" dirty="0"/>
              <a:t> </a:t>
            </a:r>
            <a:r>
              <a:rPr lang="tr-TR" dirty="0" err="1"/>
              <a:t>constraint</a:t>
            </a:r>
            <a:r>
              <a:rPr lang="tr-TR" dirty="0"/>
              <a:t> </a:t>
            </a:r>
            <a:r>
              <a:rPr lang="tr-TR" dirty="0" err="1"/>
              <a:t>for</a:t>
            </a:r>
            <a:r>
              <a:rPr lang="tr-TR" dirty="0"/>
              <a:t> </a:t>
            </a:r>
            <a:r>
              <a:rPr lang="tr-TR" dirty="0" err="1"/>
              <a:t>CubeSats</a:t>
            </a:r>
            <a:r>
              <a:rPr lang="tr-TR" dirty="0"/>
              <a:t>. Second, </a:t>
            </a:r>
            <a:r>
              <a:rPr lang="tr-TR" dirty="0" err="1"/>
              <a:t>CubeSats</a:t>
            </a:r>
            <a:r>
              <a:rPr lang="tr-TR" dirty="0"/>
              <a:t> </a:t>
            </a:r>
            <a:r>
              <a:rPr lang="tr-TR" dirty="0" err="1"/>
              <a:t>are</a:t>
            </a:r>
            <a:r>
              <a:rPr lang="tr-TR" dirty="0"/>
              <a:t> </a:t>
            </a:r>
            <a:r>
              <a:rPr lang="tr-TR" dirty="0" err="1"/>
              <a:t>capable</a:t>
            </a:r>
            <a:r>
              <a:rPr lang="tr-TR" dirty="0"/>
              <a:t> of </a:t>
            </a:r>
            <a:r>
              <a:rPr lang="tr-TR" dirty="0" err="1"/>
              <a:t>significant</a:t>
            </a:r>
            <a:r>
              <a:rPr lang="tr-TR" dirty="0"/>
              <a:t> </a:t>
            </a:r>
            <a:r>
              <a:rPr lang="tr-TR" dirty="0" err="1"/>
              <a:t>cislunar</a:t>
            </a:r>
            <a:r>
              <a:rPr lang="tr-TR" dirty="0"/>
              <a:t> </a:t>
            </a:r>
            <a:r>
              <a:rPr lang="tr-TR" dirty="0" err="1"/>
              <a:t>maneuvers</a:t>
            </a:r>
            <a:r>
              <a:rPr lang="tr-TR" dirty="0"/>
              <a:t>, but </a:t>
            </a:r>
            <a:r>
              <a:rPr lang="tr-TR" dirty="0" err="1"/>
              <a:t>the</a:t>
            </a:r>
            <a:r>
              <a:rPr lang="tr-TR" dirty="0"/>
              <a:t> </a:t>
            </a:r>
            <a:r>
              <a:rPr lang="tr-TR" dirty="0" err="1"/>
              <a:t>choice</a:t>
            </a:r>
            <a:r>
              <a:rPr lang="tr-TR" dirty="0"/>
              <a:t> of </a:t>
            </a:r>
            <a:r>
              <a:rPr lang="tr-TR" dirty="0" err="1"/>
              <a:t>orbit</a:t>
            </a:r>
            <a:r>
              <a:rPr lang="tr-TR" dirty="0"/>
              <a:t> is </a:t>
            </a:r>
            <a:r>
              <a:rPr lang="tr-TR" dirty="0" err="1"/>
              <a:t>critical</a:t>
            </a:r>
            <a:r>
              <a:rPr lang="tr-TR" dirty="0"/>
              <a:t> </a:t>
            </a:r>
            <a:r>
              <a:rPr lang="tr-TR" dirty="0" err="1"/>
              <a:t>for</a:t>
            </a:r>
            <a:r>
              <a:rPr lang="tr-TR" dirty="0"/>
              <a:t> </a:t>
            </a:r>
            <a:r>
              <a:rPr lang="tr-TR" dirty="0" err="1"/>
              <a:t>the</a:t>
            </a:r>
            <a:r>
              <a:rPr lang="tr-TR" dirty="0"/>
              <a:t> ΔV </a:t>
            </a:r>
            <a:r>
              <a:rPr lang="tr-TR" dirty="0" err="1"/>
              <a:t>budget</a:t>
            </a:r>
            <a:r>
              <a:rPr lang="tr-TR" dirty="0"/>
              <a:t>. </a:t>
            </a:r>
            <a:r>
              <a:rPr lang="tr-TR" dirty="0" err="1"/>
              <a:t>Our</a:t>
            </a:r>
            <a:r>
              <a:rPr lang="tr-TR" dirty="0"/>
              <a:t> </a:t>
            </a:r>
            <a:r>
              <a:rPr lang="tr-TR" dirty="0" err="1"/>
              <a:t>simulation</a:t>
            </a:r>
            <a:r>
              <a:rPr lang="tr-TR" dirty="0"/>
              <a:t>, </a:t>
            </a:r>
            <a:r>
              <a:rPr lang="tr-TR" dirty="0" err="1"/>
              <a:t>targeting</a:t>
            </a:r>
            <a:r>
              <a:rPr lang="tr-TR" dirty="0"/>
              <a:t> a </a:t>
            </a:r>
            <a:r>
              <a:rPr lang="tr-TR" dirty="0" err="1"/>
              <a:t>relatively</a:t>
            </a:r>
            <a:r>
              <a:rPr lang="tr-TR" dirty="0"/>
              <a:t> </a:t>
            </a:r>
            <a:r>
              <a:rPr lang="tr-TR" dirty="0" err="1"/>
              <a:t>small</a:t>
            </a:r>
            <a:r>
              <a:rPr lang="tr-TR" dirty="0"/>
              <a:t> DRO, </a:t>
            </a:r>
            <a:r>
              <a:rPr lang="tr-TR" dirty="0" err="1"/>
              <a:t>required</a:t>
            </a:r>
            <a:r>
              <a:rPr lang="tr-TR" dirty="0"/>
              <a:t> </a:t>
            </a:r>
            <a:r>
              <a:rPr lang="tr-TR" dirty="0" err="1"/>
              <a:t>about</a:t>
            </a:r>
            <a:r>
              <a:rPr lang="tr-TR" dirty="0"/>
              <a:t> 620 m/s </a:t>
            </a:r>
            <a:r>
              <a:rPr lang="tr-TR" dirty="0" err="1"/>
              <a:t>for</a:t>
            </a:r>
            <a:r>
              <a:rPr lang="tr-TR" dirty="0"/>
              <a:t> </a:t>
            </a:r>
            <a:r>
              <a:rPr lang="tr-TR" dirty="0" err="1"/>
              <a:t>capture</a:t>
            </a:r>
            <a:r>
              <a:rPr lang="tr-TR" dirty="0"/>
              <a:t> </a:t>
            </a:r>
            <a:r>
              <a:rPr lang="tr-TR" dirty="0" err="1"/>
              <a:t>and</a:t>
            </a:r>
            <a:r>
              <a:rPr lang="tr-TR" dirty="0"/>
              <a:t> </a:t>
            </a:r>
            <a:r>
              <a:rPr lang="tr-TR" dirty="0" err="1"/>
              <a:t>shaping</a:t>
            </a:r>
            <a:r>
              <a:rPr lang="tr-TR" dirty="0"/>
              <a:t>. Third, </a:t>
            </a:r>
            <a:r>
              <a:rPr lang="tr-TR" dirty="0" err="1"/>
              <a:t>this</a:t>
            </a:r>
            <a:r>
              <a:rPr lang="tr-TR" dirty="0"/>
              <a:t> </a:t>
            </a:r>
            <a:r>
              <a:rPr lang="tr-TR" dirty="0" err="1"/>
              <a:t>leads</a:t>
            </a:r>
            <a:r>
              <a:rPr lang="tr-TR" dirty="0"/>
              <a:t> </a:t>
            </a:r>
            <a:r>
              <a:rPr lang="tr-TR" dirty="0" err="1"/>
              <a:t>to</a:t>
            </a:r>
            <a:r>
              <a:rPr lang="tr-TR" dirty="0"/>
              <a:t> an </a:t>
            </a:r>
            <a:r>
              <a:rPr lang="tr-TR" dirty="0" err="1"/>
              <a:t>important</a:t>
            </a:r>
            <a:r>
              <a:rPr lang="tr-TR" dirty="0"/>
              <a:t> </a:t>
            </a:r>
            <a:r>
              <a:rPr lang="tr-TR" dirty="0" err="1"/>
              <a:t>evaluation</a:t>
            </a:r>
            <a:r>
              <a:rPr lang="tr-TR" dirty="0"/>
              <a:t>: </a:t>
            </a:r>
            <a:r>
              <a:rPr lang="tr-TR" dirty="0" err="1"/>
              <a:t>targeting</a:t>
            </a:r>
            <a:r>
              <a:rPr lang="tr-TR" dirty="0"/>
              <a:t> </a:t>
            </a:r>
            <a:r>
              <a:rPr lang="tr-TR" dirty="0" err="1"/>
              <a:t>larger-radius</a:t>
            </a:r>
            <a:r>
              <a:rPr lang="tr-TR" dirty="0"/>
              <a:t> </a:t>
            </a:r>
            <a:r>
              <a:rPr lang="tr-TR" dirty="0" err="1"/>
              <a:t>DROs</a:t>
            </a:r>
            <a:r>
              <a:rPr lang="tr-TR" dirty="0"/>
              <a:t>, as </a:t>
            </a:r>
            <a:r>
              <a:rPr lang="tr-TR" dirty="0" err="1"/>
              <a:t>seen</a:t>
            </a:r>
            <a:r>
              <a:rPr lang="tr-TR" dirty="0"/>
              <a:t> in </a:t>
            </a:r>
            <a:r>
              <a:rPr lang="tr-TR" dirty="0" err="1"/>
              <a:t>the</a:t>
            </a:r>
            <a:r>
              <a:rPr lang="tr-TR" dirty="0"/>
              <a:t> Artemis </a:t>
            </a:r>
            <a:r>
              <a:rPr lang="tr-TR" dirty="0" err="1"/>
              <a:t>mission</a:t>
            </a:r>
            <a:r>
              <a:rPr lang="tr-TR" dirty="0"/>
              <a:t>, </a:t>
            </a:r>
            <a:r>
              <a:rPr lang="tr-TR" dirty="0" err="1"/>
              <a:t>could</a:t>
            </a:r>
            <a:r>
              <a:rPr lang="tr-TR" dirty="0"/>
              <a:t> </a:t>
            </a:r>
            <a:r>
              <a:rPr lang="tr-TR" dirty="0" err="1"/>
              <a:t>potentially</a:t>
            </a:r>
            <a:r>
              <a:rPr lang="tr-TR" dirty="0"/>
              <a:t> </a:t>
            </a:r>
            <a:r>
              <a:rPr lang="tr-TR" dirty="0" err="1"/>
              <a:t>lower</a:t>
            </a:r>
            <a:r>
              <a:rPr lang="tr-TR" dirty="0"/>
              <a:t> </a:t>
            </a:r>
            <a:r>
              <a:rPr lang="tr-TR" dirty="0" err="1"/>
              <a:t>these</a:t>
            </a:r>
            <a:r>
              <a:rPr lang="tr-TR" dirty="0"/>
              <a:t> </a:t>
            </a:r>
            <a:r>
              <a:rPr lang="tr-TR" dirty="0" err="1"/>
              <a:t>capture</a:t>
            </a:r>
            <a:r>
              <a:rPr lang="tr-TR" dirty="0"/>
              <a:t> BURNS, as </a:t>
            </a:r>
            <a:r>
              <a:rPr lang="tr-TR" dirty="0" err="1"/>
              <a:t>less</a:t>
            </a:r>
            <a:r>
              <a:rPr lang="tr-TR" dirty="0"/>
              <a:t> </a:t>
            </a:r>
            <a:r>
              <a:rPr lang="tr-TR" dirty="0" err="1"/>
              <a:t>braking</a:t>
            </a:r>
            <a:r>
              <a:rPr lang="tr-TR" dirty="0"/>
              <a:t> is </a:t>
            </a:r>
            <a:r>
              <a:rPr lang="tr-TR" dirty="0" err="1"/>
              <a:t>required</a:t>
            </a:r>
            <a:r>
              <a:rPr lang="tr-TR" dirty="0"/>
              <a:t>. </a:t>
            </a:r>
            <a:r>
              <a:rPr lang="tr-TR" dirty="0" err="1"/>
              <a:t>Fourth</a:t>
            </a:r>
            <a:r>
              <a:rPr lang="tr-TR" dirty="0"/>
              <a:t>, </a:t>
            </a:r>
            <a:r>
              <a:rPr lang="tr-TR" dirty="0" err="1"/>
              <a:t>our</a:t>
            </a:r>
            <a:r>
              <a:rPr lang="tr-TR" dirty="0"/>
              <a:t> transfer profile, </a:t>
            </a:r>
            <a:r>
              <a:rPr lang="tr-TR" dirty="0" err="1"/>
              <a:t>with</a:t>
            </a:r>
            <a:r>
              <a:rPr lang="tr-TR" dirty="0"/>
              <a:t> </a:t>
            </a:r>
            <a:r>
              <a:rPr lang="tr-TR" dirty="0" err="1"/>
              <a:t>its</a:t>
            </a:r>
            <a:r>
              <a:rPr lang="tr-TR" dirty="0"/>
              <a:t> </a:t>
            </a:r>
            <a:r>
              <a:rPr lang="tr-TR" dirty="0" err="1"/>
              <a:t>distinct</a:t>
            </a:r>
            <a:r>
              <a:rPr lang="tr-TR" dirty="0"/>
              <a:t> </a:t>
            </a:r>
            <a:r>
              <a:rPr lang="tr-TR" dirty="0" err="1"/>
              <a:t>maneuver</a:t>
            </a:r>
            <a:r>
              <a:rPr lang="tr-TR" dirty="0"/>
              <a:t> </a:t>
            </a:r>
            <a:r>
              <a:rPr lang="tr-TR" dirty="0" err="1"/>
              <a:t>phases</a:t>
            </a:r>
            <a:r>
              <a:rPr lang="tr-TR" dirty="0"/>
              <a:t>, is </a:t>
            </a:r>
            <a:r>
              <a:rPr lang="tr-TR" dirty="0" err="1"/>
              <a:t>well-suited</a:t>
            </a:r>
            <a:r>
              <a:rPr lang="tr-TR" dirty="0"/>
              <a:t> </a:t>
            </a:r>
            <a:r>
              <a:rPr lang="tr-TR" dirty="0" err="1"/>
              <a:t>for</a:t>
            </a:r>
            <a:r>
              <a:rPr lang="tr-TR" dirty="0"/>
              <a:t> </a:t>
            </a:r>
            <a:r>
              <a:rPr lang="tr-TR" dirty="0" err="1"/>
              <a:t>low-thrust</a:t>
            </a:r>
            <a:r>
              <a:rPr lang="tr-TR" dirty="0"/>
              <a:t> </a:t>
            </a:r>
            <a:r>
              <a:rPr lang="tr-TR" dirty="0" err="1"/>
              <a:t>electric</a:t>
            </a:r>
            <a:r>
              <a:rPr lang="tr-TR" dirty="0"/>
              <a:t> </a:t>
            </a:r>
            <a:r>
              <a:rPr lang="tr-TR" dirty="0" err="1"/>
              <a:t>propulsion</a:t>
            </a:r>
            <a:r>
              <a:rPr lang="tr-TR" dirty="0"/>
              <a:t> </a:t>
            </a:r>
            <a:r>
              <a:rPr lang="tr-TR" dirty="0" err="1"/>
              <a:t>systems</a:t>
            </a:r>
            <a:r>
              <a:rPr lang="tr-TR" dirty="0"/>
              <a:t>. </a:t>
            </a:r>
            <a:r>
              <a:rPr lang="tr-TR" dirty="0" err="1"/>
              <a:t>Finally</a:t>
            </a:r>
            <a:r>
              <a:rPr lang="tr-TR" dirty="0"/>
              <a:t>, </a:t>
            </a:r>
            <a:r>
              <a:rPr lang="tr-TR" dirty="0" err="1"/>
              <a:t>our</a:t>
            </a:r>
            <a:r>
              <a:rPr lang="tr-TR" dirty="0"/>
              <a:t> </a:t>
            </a:r>
            <a:r>
              <a:rPr lang="tr-TR" dirty="0" err="1"/>
              <a:t>high-fidelity</a:t>
            </a:r>
            <a:r>
              <a:rPr lang="tr-TR" dirty="0"/>
              <a:t> </a:t>
            </a:r>
            <a:r>
              <a:rPr lang="tr-TR" dirty="0" err="1"/>
              <a:t>simulation</a:t>
            </a:r>
            <a:r>
              <a:rPr lang="tr-TR" dirty="0"/>
              <a:t> </a:t>
            </a:r>
            <a:r>
              <a:rPr lang="tr-TR" dirty="0" err="1"/>
              <a:t>confirms</a:t>
            </a:r>
            <a:r>
              <a:rPr lang="tr-TR" dirty="0"/>
              <a:t> </a:t>
            </a:r>
            <a:r>
              <a:rPr lang="tr-TR" dirty="0" err="1"/>
              <a:t>that</a:t>
            </a:r>
            <a:r>
              <a:rPr lang="tr-TR" dirty="0"/>
              <a:t> </a:t>
            </a:r>
            <a:r>
              <a:rPr lang="tr-TR" dirty="0" err="1"/>
              <a:t>this</a:t>
            </a:r>
            <a:r>
              <a:rPr lang="tr-TR" dirty="0"/>
              <a:t> </a:t>
            </a:r>
            <a:r>
              <a:rPr lang="tr-TR" dirty="0" err="1"/>
              <a:t>complex</a:t>
            </a:r>
            <a:r>
              <a:rPr lang="tr-TR" dirty="0"/>
              <a:t>, </a:t>
            </a:r>
            <a:r>
              <a:rPr lang="tr-TR" dirty="0" err="1"/>
              <a:t>staged</a:t>
            </a:r>
            <a:r>
              <a:rPr lang="tr-TR" dirty="0"/>
              <a:t> </a:t>
            </a:r>
            <a:r>
              <a:rPr lang="tr-TR" dirty="0" err="1"/>
              <a:t>trajectory</a:t>
            </a:r>
            <a:r>
              <a:rPr lang="tr-TR" dirty="0"/>
              <a:t> is not </a:t>
            </a:r>
            <a:r>
              <a:rPr lang="tr-TR" dirty="0" err="1"/>
              <a:t>just</a:t>
            </a:r>
            <a:r>
              <a:rPr lang="tr-TR" dirty="0"/>
              <a:t> </a:t>
            </a:r>
            <a:r>
              <a:rPr lang="tr-TR" dirty="0" err="1"/>
              <a:t>theoretical</a:t>
            </a:r>
            <a:r>
              <a:rPr lang="tr-TR" dirty="0"/>
              <a:t> but </a:t>
            </a:r>
            <a:r>
              <a:rPr lang="tr-TR" dirty="0" err="1"/>
              <a:t>practically</a:t>
            </a:r>
            <a:r>
              <a:rPr lang="tr-TR" dirty="0"/>
              <a:t> </a:t>
            </a:r>
            <a:r>
              <a:rPr lang="tr-TR" dirty="0" err="1"/>
              <a:t>achievable</a:t>
            </a:r>
            <a:r>
              <a:rPr lang="tr-TR" dirty="0"/>
              <a:t> </a:t>
            </a:r>
            <a:r>
              <a:rPr lang="tr-TR" dirty="0" err="1"/>
              <a:t>with</a:t>
            </a:r>
            <a:r>
              <a:rPr lang="tr-TR" dirty="0"/>
              <a:t> modern </a:t>
            </a:r>
            <a:r>
              <a:rPr lang="tr-TR" dirty="0" err="1"/>
              <a:t>tools</a:t>
            </a:r>
            <a:r>
              <a:rPr lang="tr-TR" dirty="0"/>
              <a:t>."</a:t>
            </a:r>
          </a:p>
        </p:txBody>
      </p:sp>
    </p:spTree>
    <p:extLst>
      <p:ext uri="{BB962C8B-B14F-4D97-AF65-F5344CB8AC3E}">
        <p14:creationId xmlns:p14="http://schemas.microsoft.com/office/powerpoint/2010/main" val="1921465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5E005AC8-BC50-1407-BDCA-73988EA2C23E}"/>
              </a:ext>
            </a:extLst>
          </p:cNvPr>
          <p:cNvSpPr txBox="1"/>
          <p:nvPr/>
        </p:nvSpPr>
        <p:spPr>
          <a:xfrm>
            <a:off x="3282439" y="6326670"/>
            <a:ext cx="2579123" cy="276999"/>
          </a:xfrm>
          <a:prstGeom prst="rect">
            <a:avLst/>
          </a:prstGeom>
          <a:noFill/>
        </p:spPr>
        <p:txBody>
          <a:bodyPr wrap="square">
            <a:spAutoFit/>
          </a:bodyPr>
          <a:lstStyle/>
          <a:p>
            <a:pPr algn="ctr"/>
            <a:r>
              <a:rPr lang="tr-TR" sz="1200" b="1" dirty="0">
                <a:solidFill>
                  <a:srgbClr val="002755"/>
                </a:solidFill>
                <a:latin typeface="Helvetica" pitchFamily="2" charset="0"/>
              </a:rPr>
              <a:t>Ahmet Fevzi Akargöl</a:t>
            </a:r>
            <a:endParaRPr lang="tr-TR" sz="1200" b="0" i="0" dirty="0">
              <a:solidFill>
                <a:srgbClr val="002755"/>
              </a:solidFill>
              <a:latin typeface="Helvetica Light" panose="020B0403020202020204" pitchFamily="34" charset="0"/>
            </a:endParaRPr>
          </a:p>
        </p:txBody>
      </p:sp>
      <p:sp>
        <p:nvSpPr>
          <p:cNvPr id="3" name="Metin kutusu 2">
            <a:extLst>
              <a:ext uri="{FF2B5EF4-FFF2-40B4-BE49-F238E27FC236}">
                <a16:creationId xmlns:a16="http://schemas.microsoft.com/office/drawing/2014/main" id="{9E93BF3B-F584-2565-3651-4A6F1C0A59CE}"/>
              </a:ext>
            </a:extLst>
          </p:cNvPr>
          <p:cNvSpPr txBox="1"/>
          <p:nvPr/>
        </p:nvSpPr>
        <p:spPr>
          <a:xfrm>
            <a:off x="2493018" y="5380156"/>
            <a:ext cx="4157965" cy="400110"/>
          </a:xfrm>
          <a:prstGeom prst="rect">
            <a:avLst/>
          </a:prstGeom>
          <a:noFill/>
        </p:spPr>
        <p:txBody>
          <a:bodyPr wrap="square" rtlCol="0" anchor="ctr">
            <a:spAutoFit/>
          </a:bodyPr>
          <a:lstStyle/>
          <a:p>
            <a:pPr algn="ctr"/>
            <a:r>
              <a:rPr lang="tr-TR" sz="2000" dirty="0">
                <a:solidFill>
                  <a:srgbClr val="012855"/>
                </a:solidFill>
                <a:latin typeface="Helvetica Light" panose="020B0403020202020204" pitchFamily="34" charset="0"/>
              </a:rPr>
              <a:t>26.06.2024</a:t>
            </a:r>
          </a:p>
        </p:txBody>
      </p:sp>
      <p:sp>
        <p:nvSpPr>
          <p:cNvPr id="4" name="Metin kutusu 3">
            <a:extLst>
              <a:ext uri="{FF2B5EF4-FFF2-40B4-BE49-F238E27FC236}">
                <a16:creationId xmlns:a16="http://schemas.microsoft.com/office/drawing/2014/main" id="{9AB553C1-AA10-0907-9B28-F876B616F84A}"/>
              </a:ext>
            </a:extLst>
          </p:cNvPr>
          <p:cNvSpPr txBox="1"/>
          <p:nvPr/>
        </p:nvSpPr>
        <p:spPr>
          <a:xfrm>
            <a:off x="661326" y="2653119"/>
            <a:ext cx="9149647" cy="1754326"/>
          </a:xfrm>
          <a:prstGeom prst="rect">
            <a:avLst/>
          </a:prstGeom>
          <a:noFill/>
        </p:spPr>
        <p:txBody>
          <a:bodyPr wrap="square" rtlCol="0" anchor="ctr">
            <a:spAutoFit/>
          </a:bodyPr>
          <a:lstStyle/>
          <a:p>
            <a:pPr algn="l"/>
            <a:r>
              <a:rPr lang="en-US" sz="5400" b="0" i="0" dirty="0">
                <a:solidFill>
                  <a:srgbClr val="212529"/>
                </a:solidFill>
                <a:effectLst/>
                <a:latin typeface="Helvetica" panose="020B0604020202020204" pitchFamily="34" charset="0"/>
                <a:cs typeface="Helvetica" panose="020B0604020202020204" pitchFamily="34" charset="0"/>
              </a:rPr>
              <a:t>Trajectory Design for Lunar </a:t>
            </a:r>
            <a:r>
              <a:rPr lang="tr-TR" sz="5400" b="0" i="0" dirty="0">
                <a:solidFill>
                  <a:srgbClr val="212529"/>
                </a:solidFill>
                <a:effectLst/>
                <a:latin typeface="Helvetica" panose="020B0604020202020204" pitchFamily="34" charset="0"/>
                <a:cs typeface="Helvetica" panose="020B0604020202020204" pitchFamily="34" charset="0"/>
              </a:rPr>
              <a:t>				</a:t>
            </a:r>
            <a:r>
              <a:rPr lang="en-US" sz="5400" b="0" i="0" dirty="0">
                <a:solidFill>
                  <a:srgbClr val="212529"/>
                </a:solidFill>
                <a:effectLst/>
                <a:latin typeface="Helvetica" panose="020B0604020202020204" pitchFamily="34" charset="0"/>
                <a:cs typeface="Helvetica" panose="020B0604020202020204" pitchFamily="34" charset="0"/>
              </a:rPr>
              <a:t>Cube</a:t>
            </a:r>
            <a:r>
              <a:rPr lang="tr-TR" sz="5400" b="0" i="0" dirty="0">
                <a:solidFill>
                  <a:srgbClr val="212529"/>
                </a:solidFill>
                <a:effectLst/>
                <a:latin typeface="Helvetica" panose="020B0604020202020204" pitchFamily="34" charset="0"/>
                <a:cs typeface="Helvetica" panose="020B0604020202020204" pitchFamily="34" charset="0"/>
              </a:rPr>
              <a:t>S</a:t>
            </a:r>
            <a:r>
              <a:rPr lang="en-US" sz="5400" b="0" i="0" dirty="0">
                <a:solidFill>
                  <a:srgbClr val="212529"/>
                </a:solidFill>
                <a:effectLst/>
                <a:latin typeface="Helvetica" panose="020B0604020202020204" pitchFamily="34" charset="0"/>
                <a:cs typeface="Helvetica" panose="020B0604020202020204" pitchFamily="34" charset="0"/>
              </a:rPr>
              <a:t>at Missions</a:t>
            </a:r>
            <a:endParaRPr lang="tr-TR" sz="5000" b="1" dirty="0">
              <a:solidFill>
                <a:srgbClr val="012855"/>
              </a:solidFill>
              <a:latin typeface="Helvetica" panose="020B0604020202020204" pitchFamily="34" charset="0"/>
              <a:cs typeface="Helvetica" panose="020B0604020202020204" pitchFamily="34" charset="0"/>
            </a:endParaRPr>
          </a:p>
        </p:txBody>
      </p:sp>
      <p:sp>
        <p:nvSpPr>
          <p:cNvPr id="6" name="Metin kutusu 5">
            <a:extLst>
              <a:ext uri="{FF2B5EF4-FFF2-40B4-BE49-F238E27FC236}">
                <a16:creationId xmlns:a16="http://schemas.microsoft.com/office/drawing/2014/main" id="{27AE2E6F-54C3-426A-AB62-4E00C2F96121}"/>
              </a:ext>
            </a:extLst>
          </p:cNvPr>
          <p:cNvSpPr txBox="1"/>
          <p:nvPr/>
        </p:nvSpPr>
        <p:spPr>
          <a:xfrm>
            <a:off x="11114904" y="1954081"/>
            <a:ext cx="1983259" cy="2585323"/>
          </a:xfrm>
          <a:prstGeom prst="rect">
            <a:avLst/>
          </a:prstGeom>
          <a:noFill/>
        </p:spPr>
        <p:txBody>
          <a:bodyPr wrap="square">
            <a:spAutoFit/>
          </a:bodyPr>
          <a:lstStyle/>
          <a:p>
            <a:r>
              <a:rPr lang="en-US" dirty="0"/>
              <a:t>This concludes my presentation. Thank you very much for your time and attention. I would be happy to answer any questions you may have</a:t>
            </a:r>
            <a:endParaRPr lang="tr-TR" dirty="0"/>
          </a:p>
        </p:txBody>
      </p:sp>
    </p:spTree>
    <p:extLst>
      <p:ext uri="{BB962C8B-B14F-4D97-AF65-F5344CB8AC3E}">
        <p14:creationId xmlns:p14="http://schemas.microsoft.com/office/powerpoint/2010/main" val="1160017286"/>
      </p:ext>
    </p:extLst>
  </p:cSld>
  <p:clrMapOvr>
    <a:masterClrMapping/>
  </p:clrMapOvr>
</p:sld>
</file>

<file path=ppt/theme/theme1.xml><?xml version="1.0" encoding="utf-8"?>
<a:theme xmlns:a="http://schemas.openxmlformats.org/drawingml/2006/main" name="Office Teması">
  <a:themeElements>
    <a:clrScheme name="Office Teması">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2676</TotalTime>
  <Words>3292</Words>
  <Application>Microsoft Office PowerPoint</Application>
  <PresentationFormat>Ekran Gösterisi (4:3)</PresentationFormat>
  <Paragraphs>189</Paragraphs>
  <Slides>20</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20</vt:i4>
      </vt:variant>
    </vt:vector>
  </HeadingPairs>
  <TitlesOfParts>
    <vt:vector size="25" baseType="lpstr">
      <vt:lpstr>Arial</vt:lpstr>
      <vt:lpstr>Calibri</vt:lpstr>
      <vt:lpstr>Helvetica</vt:lpstr>
      <vt:lpstr>Helvetica Light</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Microsoft Office User</dc:creator>
  <cp:lastModifiedBy>fevzi akargöl</cp:lastModifiedBy>
  <cp:revision>62</cp:revision>
  <dcterms:created xsi:type="dcterms:W3CDTF">2022-11-17T05:24:22Z</dcterms:created>
  <dcterms:modified xsi:type="dcterms:W3CDTF">2025-07-09T12:34:08Z</dcterms:modified>
</cp:coreProperties>
</file>